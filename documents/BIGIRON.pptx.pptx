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28706" y="2443152"/>
            <a:ext cx="8204834" cy="4424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rgbClr val="F4F4F4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6F8BAB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CAE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rgbClr val="F4F4F4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6F8BAB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rgbClr val="F4F4F4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334719" y="2584081"/>
            <a:ext cx="7409180" cy="704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122157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907076" y="2667928"/>
            <a:ext cx="7973059" cy="6963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122157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rgbClr val="F4F4F4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CAE7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58717" y="424907"/>
            <a:ext cx="2739970" cy="31241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18350" y="424907"/>
            <a:ext cx="2524124" cy="31241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18350" y="5143500"/>
            <a:ext cx="2524124" cy="34748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91807" y="-33493"/>
            <a:ext cx="12049783" cy="18099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rgbClr val="F4F4F4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02093" y="4868862"/>
            <a:ext cx="10519410" cy="23755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6F8BAB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3" Type="http://schemas.openxmlformats.org/officeDocument/2006/relationships/image" Target="../media/image2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3" Type="http://schemas.openxmlformats.org/officeDocument/2006/relationships/image" Target="../media/image26.jpg"/><Relationship Id="rId4" Type="http://schemas.openxmlformats.org/officeDocument/2006/relationships/image" Target="../media/image27.png"/><Relationship Id="rId5" Type="http://schemas.openxmlformats.org/officeDocument/2006/relationships/image" Target="../media/image28.jpg"/><Relationship Id="rId6" Type="http://schemas.openxmlformats.org/officeDocument/2006/relationships/image" Target="../media/image29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6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39043" y="3350953"/>
            <a:ext cx="1019429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-409">
                <a:solidFill>
                  <a:srgbClr val="122157"/>
                </a:solidFill>
                <a:latin typeface="Arial Black"/>
                <a:cs typeface="Arial Black"/>
              </a:rPr>
              <a:t>IBM</a:t>
            </a:r>
            <a:r>
              <a:rPr dirty="0" sz="7200" spc="-700">
                <a:solidFill>
                  <a:srgbClr val="122157"/>
                </a:solidFill>
                <a:latin typeface="Arial Black"/>
                <a:cs typeface="Arial Black"/>
              </a:rPr>
              <a:t> </a:t>
            </a:r>
            <a:r>
              <a:rPr dirty="0" sz="7200" spc="-1040">
                <a:solidFill>
                  <a:srgbClr val="122157"/>
                </a:solidFill>
                <a:latin typeface="Arial Black"/>
                <a:cs typeface="Arial Black"/>
              </a:rPr>
              <a:t>Z</a:t>
            </a:r>
            <a:r>
              <a:rPr dirty="0" sz="7200" spc="-695">
                <a:solidFill>
                  <a:srgbClr val="122157"/>
                </a:solidFill>
                <a:latin typeface="Arial Black"/>
                <a:cs typeface="Arial Black"/>
              </a:rPr>
              <a:t> </a:t>
            </a:r>
            <a:r>
              <a:rPr dirty="0" sz="7200" spc="-670">
                <a:solidFill>
                  <a:srgbClr val="122157"/>
                </a:solidFill>
                <a:latin typeface="Arial Black"/>
                <a:cs typeface="Arial Black"/>
              </a:rPr>
              <a:t>D</a:t>
            </a:r>
            <a:r>
              <a:rPr dirty="0" sz="7200" spc="-1065">
                <a:solidFill>
                  <a:srgbClr val="122157"/>
                </a:solidFill>
                <a:latin typeface="Arial Black"/>
                <a:cs typeface="Arial Black"/>
              </a:rPr>
              <a:t>A</a:t>
            </a:r>
            <a:r>
              <a:rPr dirty="0" sz="7200" spc="-1115">
                <a:solidFill>
                  <a:srgbClr val="122157"/>
                </a:solidFill>
                <a:latin typeface="Arial Black"/>
                <a:cs typeface="Arial Black"/>
              </a:rPr>
              <a:t>T</a:t>
            </a:r>
            <a:r>
              <a:rPr dirty="0" sz="7200" spc="-1065">
                <a:solidFill>
                  <a:srgbClr val="122157"/>
                </a:solidFill>
                <a:latin typeface="Arial Black"/>
                <a:cs typeface="Arial Black"/>
              </a:rPr>
              <a:t>A</a:t>
            </a:r>
            <a:r>
              <a:rPr dirty="0" sz="7200" spc="-545">
                <a:solidFill>
                  <a:srgbClr val="122157"/>
                </a:solidFill>
                <a:latin typeface="Arial Black"/>
                <a:cs typeface="Arial Black"/>
              </a:rPr>
              <a:t>THON</a:t>
            </a:r>
            <a:r>
              <a:rPr dirty="0" sz="7200" spc="-695">
                <a:solidFill>
                  <a:srgbClr val="122157"/>
                </a:solidFill>
                <a:latin typeface="Arial Black"/>
                <a:cs typeface="Arial Black"/>
              </a:rPr>
              <a:t> </a:t>
            </a:r>
            <a:r>
              <a:rPr dirty="0" sz="7200" spc="-520">
                <a:solidFill>
                  <a:srgbClr val="122157"/>
                </a:solidFill>
                <a:latin typeface="Arial Black"/>
                <a:cs typeface="Arial Black"/>
              </a:rPr>
              <a:t>2025</a:t>
            </a:r>
            <a:endParaRPr sz="7200">
              <a:latin typeface="Arial Black"/>
              <a:cs typeface="Arial Black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674802" y="4783134"/>
            <a:ext cx="5913120" cy="2330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785" marR="5080" indent="-1061720">
              <a:lnSpc>
                <a:spcPct val="116300"/>
              </a:lnSpc>
              <a:spcBef>
                <a:spcPts val="100"/>
              </a:spcBef>
            </a:pPr>
            <a:r>
              <a:rPr dirty="0" sz="6500" spc="-635">
                <a:solidFill>
                  <a:srgbClr val="122157"/>
                </a:solidFill>
                <a:latin typeface="Arial Black"/>
                <a:cs typeface="Arial Black"/>
              </a:rPr>
              <a:t>TEAM:SAV</a:t>
            </a:r>
            <a:r>
              <a:rPr dirty="0" sz="6500" spc="-610">
                <a:solidFill>
                  <a:srgbClr val="122157"/>
                </a:solidFill>
                <a:latin typeface="Arial Black"/>
                <a:cs typeface="Arial Black"/>
              </a:rPr>
              <a:t> </a:t>
            </a:r>
            <a:r>
              <a:rPr dirty="0" sz="6500" spc="-375">
                <a:solidFill>
                  <a:srgbClr val="122157"/>
                </a:solidFill>
                <a:latin typeface="Arial Black"/>
                <a:cs typeface="Arial Black"/>
              </a:rPr>
              <a:t>106 </a:t>
            </a:r>
            <a:r>
              <a:rPr dirty="0" sz="6500" spc="-525">
                <a:solidFill>
                  <a:srgbClr val="122157"/>
                </a:solidFill>
                <a:latin typeface="Arial Black"/>
                <a:cs typeface="Arial Black"/>
              </a:rPr>
              <a:t>BIG</a:t>
            </a:r>
            <a:r>
              <a:rPr dirty="0" sz="6500" spc="-630">
                <a:solidFill>
                  <a:srgbClr val="122157"/>
                </a:solidFill>
                <a:latin typeface="Arial Black"/>
                <a:cs typeface="Arial Black"/>
              </a:rPr>
              <a:t> </a:t>
            </a:r>
            <a:r>
              <a:rPr dirty="0" sz="6500" spc="-505">
                <a:solidFill>
                  <a:srgbClr val="122157"/>
                </a:solidFill>
                <a:latin typeface="Arial Black"/>
                <a:cs typeface="Arial Black"/>
              </a:rPr>
              <a:t>IRON</a:t>
            </a:r>
            <a:endParaRPr sz="65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3237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45948" y="4180795"/>
            <a:ext cx="14709775" cy="177800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4679315" marR="5080" indent="-4667250">
              <a:lnSpc>
                <a:spcPct val="116199"/>
              </a:lnSpc>
              <a:spcBef>
                <a:spcPts val="90"/>
              </a:spcBef>
            </a:pPr>
            <a:r>
              <a:rPr dirty="0" sz="4950" spc="-170" b="0">
                <a:solidFill>
                  <a:srgbClr val="122157"/>
                </a:solidFill>
                <a:latin typeface="Arial Black"/>
                <a:cs typeface="Arial Black"/>
              </a:rPr>
              <a:t>AI-</a:t>
            </a:r>
            <a:r>
              <a:rPr dirty="0" sz="4950" spc="-380" b="0">
                <a:solidFill>
                  <a:srgbClr val="122157"/>
                </a:solidFill>
                <a:latin typeface="Arial Black"/>
                <a:cs typeface="Arial Black"/>
              </a:rPr>
              <a:t>Powered</a:t>
            </a:r>
            <a:r>
              <a:rPr dirty="0" sz="4950" spc="-455" b="0">
                <a:solidFill>
                  <a:srgbClr val="122157"/>
                </a:solidFill>
                <a:latin typeface="Arial Black"/>
                <a:cs typeface="Arial Black"/>
              </a:rPr>
              <a:t> </a:t>
            </a:r>
            <a:r>
              <a:rPr dirty="0" sz="4950" spc="-275" b="0">
                <a:solidFill>
                  <a:srgbClr val="122157"/>
                </a:solidFill>
                <a:latin typeface="Arial Black"/>
                <a:cs typeface="Arial Black"/>
              </a:rPr>
              <a:t>Heart</a:t>
            </a:r>
            <a:r>
              <a:rPr dirty="0" sz="4950" spc="-450" b="0">
                <a:solidFill>
                  <a:srgbClr val="122157"/>
                </a:solidFill>
                <a:latin typeface="Arial Black"/>
                <a:cs typeface="Arial Black"/>
              </a:rPr>
              <a:t> </a:t>
            </a:r>
            <a:r>
              <a:rPr dirty="0" sz="4950" spc="-320" b="0">
                <a:solidFill>
                  <a:srgbClr val="122157"/>
                </a:solidFill>
                <a:latin typeface="Arial Black"/>
                <a:cs typeface="Arial Black"/>
              </a:rPr>
              <a:t>MRI</a:t>
            </a:r>
            <a:r>
              <a:rPr dirty="0" sz="4950" spc="-450" b="0">
                <a:solidFill>
                  <a:srgbClr val="122157"/>
                </a:solidFill>
                <a:latin typeface="Arial Black"/>
                <a:cs typeface="Arial Black"/>
              </a:rPr>
              <a:t> </a:t>
            </a:r>
            <a:r>
              <a:rPr dirty="0" sz="4950" spc="-320" b="0">
                <a:solidFill>
                  <a:srgbClr val="122157"/>
                </a:solidFill>
                <a:latin typeface="Arial Black"/>
                <a:cs typeface="Arial Black"/>
              </a:rPr>
              <a:t>Classification</a:t>
            </a:r>
            <a:r>
              <a:rPr dirty="0" sz="4950" spc="-450" b="0">
                <a:solidFill>
                  <a:srgbClr val="122157"/>
                </a:solidFill>
                <a:latin typeface="Arial Black"/>
                <a:cs typeface="Arial Black"/>
              </a:rPr>
              <a:t> </a:t>
            </a:r>
            <a:r>
              <a:rPr dirty="0" sz="4950" spc="-120" b="0">
                <a:solidFill>
                  <a:srgbClr val="122157"/>
                </a:solidFill>
                <a:latin typeface="Arial Black"/>
                <a:cs typeface="Arial Black"/>
              </a:rPr>
              <a:t>for</a:t>
            </a:r>
            <a:r>
              <a:rPr dirty="0" sz="4950" spc="-450" b="0">
                <a:solidFill>
                  <a:srgbClr val="122157"/>
                </a:solidFill>
                <a:latin typeface="Arial Black"/>
                <a:cs typeface="Arial Black"/>
              </a:rPr>
              <a:t> </a:t>
            </a:r>
            <a:r>
              <a:rPr dirty="0" sz="4950" spc="-300" b="0">
                <a:solidFill>
                  <a:srgbClr val="122157"/>
                </a:solidFill>
                <a:latin typeface="Arial Black"/>
                <a:cs typeface="Arial Black"/>
              </a:rPr>
              <a:t>Clinical </a:t>
            </a:r>
            <a:r>
              <a:rPr dirty="0" sz="4950" spc="-305" b="0">
                <a:solidFill>
                  <a:srgbClr val="122157"/>
                </a:solidFill>
                <a:latin typeface="Arial Black"/>
                <a:cs typeface="Arial Black"/>
              </a:rPr>
              <a:t>Decision</a:t>
            </a:r>
            <a:r>
              <a:rPr dirty="0" sz="4950" spc="-480" b="0">
                <a:solidFill>
                  <a:srgbClr val="122157"/>
                </a:solidFill>
                <a:latin typeface="Arial Black"/>
                <a:cs typeface="Arial Black"/>
              </a:rPr>
              <a:t> </a:t>
            </a:r>
            <a:r>
              <a:rPr dirty="0" sz="4950" spc="-45" b="0">
                <a:solidFill>
                  <a:srgbClr val="122157"/>
                </a:solidFill>
                <a:latin typeface="Arial Black"/>
                <a:cs typeface="Arial Black"/>
              </a:rPr>
              <a:t>Support</a:t>
            </a:r>
            <a:endParaRPr sz="49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68465" y="276226"/>
            <a:ext cx="1800225" cy="72389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55591" y="247651"/>
            <a:ext cx="3456751" cy="7810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647553" y="3392339"/>
            <a:ext cx="9403080" cy="2488565"/>
          </a:xfrm>
          <a:prstGeom prst="rect"/>
        </p:spPr>
        <p:txBody>
          <a:bodyPr wrap="square" lIns="0" tIns="33020" rIns="0" bIns="0" rtlCol="0" vert="horz">
            <a:spAutoFit/>
          </a:bodyPr>
          <a:lstStyle/>
          <a:p>
            <a:pPr marL="12700" marR="5080">
              <a:lnSpc>
                <a:spcPts val="9670"/>
              </a:lnSpc>
              <a:spcBef>
                <a:spcPts val="260"/>
              </a:spcBef>
              <a:tabLst>
                <a:tab pos="2837180" algn="l"/>
                <a:tab pos="3944620" algn="l"/>
              </a:tabLst>
            </a:pPr>
            <a:r>
              <a:rPr dirty="0" sz="8100" spc="450">
                <a:solidFill>
                  <a:srgbClr val="6F8BAB"/>
                </a:solidFill>
                <a:latin typeface="Georgia"/>
                <a:cs typeface="Georgia"/>
              </a:rPr>
              <a:t>IB</a:t>
            </a:r>
            <a:r>
              <a:rPr dirty="0" sz="8100" spc="-90">
                <a:solidFill>
                  <a:srgbClr val="6F8BAB"/>
                </a:solidFill>
                <a:latin typeface="Georgia"/>
                <a:cs typeface="Georgia"/>
              </a:rPr>
              <a:t>M</a:t>
            </a:r>
            <a:r>
              <a:rPr dirty="0" sz="8100">
                <a:solidFill>
                  <a:srgbClr val="6F8BAB"/>
                </a:solidFill>
                <a:latin typeface="Georgia"/>
                <a:cs typeface="Georgia"/>
              </a:rPr>
              <a:t>	</a:t>
            </a:r>
            <a:r>
              <a:rPr dirty="0" sz="8100" spc="-50">
                <a:solidFill>
                  <a:srgbClr val="153769"/>
                </a:solidFill>
                <a:latin typeface="Georgia"/>
                <a:cs typeface="Georgia"/>
              </a:rPr>
              <a:t>Z</a:t>
            </a:r>
            <a:r>
              <a:rPr dirty="0" sz="8100">
                <a:solidFill>
                  <a:srgbClr val="153769"/>
                </a:solidFill>
                <a:latin typeface="Georgia"/>
                <a:cs typeface="Georgia"/>
              </a:rPr>
              <a:t>	</a:t>
            </a:r>
            <a:r>
              <a:rPr dirty="0" sz="8100" spc="520">
                <a:solidFill>
                  <a:srgbClr val="6F8BAB"/>
                </a:solidFill>
                <a:latin typeface="Georgia"/>
                <a:cs typeface="Georgia"/>
              </a:rPr>
              <a:t>Datatho</a:t>
            </a:r>
            <a:r>
              <a:rPr dirty="0" sz="8100" spc="-20">
                <a:solidFill>
                  <a:srgbClr val="6F8BAB"/>
                </a:solidFill>
                <a:latin typeface="Georgia"/>
                <a:cs typeface="Georgia"/>
              </a:rPr>
              <a:t>n</a:t>
            </a:r>
            <a:r>
              <a:rPr dirty="0" sz="8100" spc="450">
                <a:solidFill>
                  <a:srgbClr val="6F8BAB"/>
                </a:solidFill>
                <a:latin typeface="Georgia"/>
                <a:cs typeface="Georgia"/>
              </a:rPr>
              <a:t> </a:t>
            </a:r>
            <a:r>
              <a:rPr dirty="0" sz="8100" spc="575">
                <a:solidFill>
                  <a:srgbClr val="6F8BAB"/>
                </a:solidFill>
                <a:latin typeface="Georgia"/>
                <a:cs typeface="Georgia"/>
              </a:rPr>
              <a:t>202</a:t>
            </a:r>
            <a:r>
              <a:rPr dirty="0" sz="8100" spc="35">
                <a:solidFill>
                  <a:srgbClr val="6F8BAB"/>
                </a:solidFill>
                <a:latin typeface="Georgia"/>
                <a:cs typeface="Georgia"/>
              </a:rPr>
              <a:t>5</a:t>
            </a:r>
            <a:endParaRPr sz="8100">
              <a:latin typeface="Georgia"/>
              <a:cs typeface="Georg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647553" y="6164122"/>
            <a:ext cx="7390765" cy="1135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340"/>
              </a:lnSpc>
              <a:spcBef>
                <a:spcPts val="100"/>
              </a:spcBef>
              <a:tabLst>
                <a:tab pos="1719580" algn="l"/>
                <a:tab pos="3044825" algn="l"/>
              </a:tabLst>
            </a:pPr>
            <a:r>
              <a:rPr dirty="0" sz="3650" spc="165" b="1">
                <a:solidFill>
                  <a:srgbClr val="6F8BAB"/>
                </a:solidFill>
                <a:latin typeface="Georgia"/>
                <a:cs typeface="Georgia"/>
              </a:rPr>
              <a:t>TECH</a:t>
            </a:r>
            <a:r>
              <a:rPr dirty="0" sz="3650" b="1">
                <a:solidFill>
                  <a:srgbClr val="6F8BAB"/>
                </a:solidFill>
                <a:latin typeface="Georgia"/>
                <a:cs typeface="Georgia"/>
              </a:rPr>
              <a:t>	</a:t>
            </a:r>
            <a:r>
              <a:rPr dirty="0" sz="3650" spc="145" b="1">
                <a:solidFill>
                  <a:srgbClr val="6F8BAB"/>
                </a:solidFill>
                <a:latin typeface="Georgia"/>
                <a:cs typeface="Georgia"/>
              </a:rPr>
              <a:t>FOR</a:t>
            </a:r>
            <a:r>
              <a:rPr dirty="0" sz="3650" b="1">
                <a:solidFill>
                  <a:srgbClr val="6F8BAB"/>
                </a:solidFill>
                <a:latin typeface="Georgia"/>
                <a:cs typeface="Georgia"/>
              </a:rPr>
              <a:t>	</a:t>
            </a:r>
            <a:r>
              <a:rPr dirty="0" sz="3650" spc="175" b="1">
                <a:solidFill>
                  <a:srgbClr val="6F8BAB"/>
                </a:solidFill>
                <a:latin typeface="Georgia"/>
                <a:cs typeface="Georgia"/>
              </a:rPr>
              <a:t>GOOD</a:t>
            </a:r>
            <a:endParaRPr sz="3650">
              <a:latin typeface="Georgia"/>
              <a:cs typeface="Georgia"/>
            </a:endParaRPr>
          </a:p>
          <a:p>
            <a:pPr marL="12700">
              <a:lnSpc>
                <a:spcPts val="4400"/>
              </a:lnSpc>
              <a:tabLst>
                <a:tab pos="1809750" algn="l"/>
                <a:tab pos="2173605" algn="l"/>
                <a:tab pos="3382010" algn="l"/>
                <a:tab pos="5259705" algn="l"/>
              </a:tabLst>
            </a:pPr>
            <a:r>
              <a:rPr dirty="0" sz="3700" spc="180" b="1">
                <a:solidFill>
                  <a:srgbClr val="153769"/>
                </a:solidFill>
                <a:latin typeface="Georgia"/>
                <a:cs typeface="Georgia"/>
              </a:rPr>
              <a:t>TEAM</a:t>
            </a:r>
            <a:r>
              <a:rPr dirty="0" sz="3700" b="1">
                <a:solidFill>
                  <a:srgbClr val="153769"/>
                </a:solidFill>
                <a:latin typeface="Georgia"/>
                <a:cs typeface="Georgia"/>
              </a:rPr>
              <a:t>	</a:t>
            </a:r>
            <a:r>
              <a:rPr dirty="0" sz="3700" spc="-50" b="1">
                <a:solidFill>
                  <a:srgbClr val="153769"/>
                </a:solidFill>
                <a:latin typeface="Georgia"/>
                <a:cs typeface="Georgia"/>
              </a:rPr>
              <a:t>:</a:t>
            </a:r>
            <a:r>
              <a:rPr dirty="0" sz="3700" b="1">
                <a:solidFill>
                  <a:srgbClr val="153769"/>
                </a:solidFill>
                <a:latin typeface="Georgia"/>
                <a:cs typeface="Georgia"/>
              </a:rPr>
              <a:t>	</a:t>
            </a:r>
            <a:r>
              <a:rPr dirty="0" sz="3700" spc="145" b="1">
                <a:solidFill>
                  <a:srgbClr val="153769"/>
                </a:solidFill>
                <a:latin typeface="Georgia"/>
                <a:cs typeface="Georgia"/>
              </a:rPr>
              <a:t>BIG</a:t>
            </a:r>
            <a:r>
              <a:rPr dirty="0" sz="3700" b="1">
                <a:solidFill>
                  <a:srgbClr val="153769"/>
                </a:solidFill>
                <a:latin typeface="Georgia"/>
                <a:cs typeface="Georgia"/>
              </a:rPr>
              <a:t>	</a:t>
            </a:r>
            <a:r>
              <a:rPr dirty="0" sz="3700" spc="195" b="1">
                <a:solidFill>
                  <a:srgbClr val="153769"/>
                </a:solidFill>
                <a:latin typeface="Georgia"/>
                <a:cs typeface="Georgia"/>
              </a:rPr>
              <a:t>IRON-</a:t>
            </a:r>
            <a:r>
              <a:rPr dirty="0" sz="3700" b="1">
                <a:solidFill>
                  <a:srgbClr val="153769"/>
                </a:solidFill>
                <a:latin typeface="Georgia"/>
                <a:cs typeface="Georgia"/>
              </a:rPr>
              <a:t>	</a:t>
            </a:r>
            <a:r>
              <a:rPr dirty="0" sz="3700" spc="280" b="1">
                <a:solidFill>
                  <a:srgbClr val="153769"/>
                </a:solidFill>
                <a:latin typeface="Georgia"/>
                <a:cs typeface="Georgia"/>
              </a:rPr>
              <a:t>SAV106</a:t>
            </a:r>
            <a:endParaRPr sz="3700">
              <a:latin typeface="Georgia"/>
              <a:cs typeface="Georgi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"/>
            <a:ext cx="8196205" cy="102869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50752" y="9245600"/>
            <a:ext cx="181737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305">
                <a:solidFill>
                  <a:srgbClr val="122157"/>
                </a:solidFill>
                <a:latin typeface="Arial Black"/>
                <a:cs typeface="Arial Black"/>
              </a:rPr>
              <a:t>SRIRAM</a:t>
            </a:r>
            <a:r>
              <a:rPr dirty="0" sz="3000" spc="-315">
                <a:solidFill>
                  <a:srgbClr val="122157"/>
                </a:solidFill>
                <a:latin typeface="Arial Black"/>
                <a:cs typeface="Arial Black"/>
              </a:rPr>
              <a:t> </a:t>
            </a:r>
            <a:r>
              <a:rPr dirty="0" sz="3000" spc="-405">
                <a:solidFill>
                  <a:srgbClr val="122157"/>
                </a:solidFill>
                <a:latin typeface="Arial Black"/>
                <a:cs typeface="Arial Black"/>
              </a:rPr>
              <a:t>V</a:t>
            </a:r>
            <a:endParaRPr sz="3000">
              <a:latin typeface="Arial Black"/>
              <a:cs typeface="Arial Black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044098" cy="102870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58717" y="5143500"/>
            <a:ext cx="2320092" cy="347481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9001158" y="3935031"/>
            <a:ext cx="196151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360">
                <a:solidFill>
                  <a:srgbClr val="153769"/>
                </a:solidFill>
                <a:latin typeface="Arial Black"/>
                <a:cs typeface="Arial Black"/>
              </a:rPr>
              <a:t>SHIVRAJ</a:t>
            </a:r>
            <a:r>
              <a:rPr dirty="0" sz="3000" spc="-335">
                <a:solidFill>
                  <a:srgbClr val="153769"/>
                </a:solidFill>
                <a:latin typeface="Arial Black"/>
                <a:cs typeface="Arial Black"/>
              </a:rPr>
              <a:t> </a:t>
            </a:r>
            <a:r>
              <a:rPr dirty="0" sz="3000" spc="-50">
                <a:solidFill>
                  <a:srgbClr val="153769"/>
                </a:solidFill>
                <a:latin typeface="Arial Black"/>
                <a:cs typeface="Arial Black"/>
              </a:rPr>
              <a:t>R</a:t>
            </a:r>
            <a:endParaRPr sz="3000">
              <a:latin typeface="Arial Black"/>
              <a:cs typeface="Arial Black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310097" y="3915981"/>
            <a:ext cx="263715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75">
                <a:solidFill>
                  <a:srgbClr val="122157"/>
                </a:solidFill>
                <a:latin typeface="Arial Black"/>
                <a:cs typeface="Arial Black"/>
              </a:rPr>
              <a:t>G</a:t>
            </a:r>
            <a:r>
              <a:rPr dirty="0" sz="3000" spc="-190">
                <a:solidFill>
                  <a:srgbClr val="122157"/>
                </a:solidFill>
                <a:latin typeface="Arial Black"/>
                <a:cs typeface="Arial Black"/>
              </a:rPr>
              <a:t> </a:t>
            </a:r>
            <a:r>
              <a:rPr dirty="0" sz="3000" spc="-345">
                <a:solidFill>
                  <a:srgbClr val="122157"/>
                </a:solidFill>
                <a:latin typeface="Arial Black"/>
                <a:cs typeface="Arial Black"/>
              </a:rPr>
              <a:t>M</a:t>
            </a:r>
            <a:r>
              <a:rPr dirty="0" sz="3000" spc="-190">
                <a:solidFill>
                  <a:srgbClr val="122157"/>
                </a:solidFill>
                <a:latin typeface="Arial Black"/>
                <a:cs typeface="Arial Black"/>
              </a:rPr>
              <a:t> </a:t>
            </a:r>
            <a:r>
              <a:rPr dirty="0" sz="3000" spc="-300">
                <a:solidFill>
                  <a:srgbClr val="122157"/>
                </a:solidFill>
                <a:latin typeface="Arial Black"/>
                <a:cs typeface="Arial Black"/>
              </a:rPr>
              <a:t>MADHURI</a:t>
            </a:r>
            <a:endParaRPr sz="3000">
              <a:latin typeface="Arial Black"/>
              <a:cs typeface="Arial Black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409418" y="9245600"/>
            <a:ext cx="243903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75">
                <a:solidFill>
                  <a:srgbClr val="122157"/>
                </a:solidFill>
                <a:latin typeface="Arial Black"/>
                <a:cs typeface="Arial Black"/>
              </a:rPr>
              <a:t>G</a:t>
            </a:r>
            <a:r>
              <a:rPr dirty="0" sz="3000" spc="-170">
                <a:solidFill>
                  <a:srgbClr val="122157"/>
                </a:solidFill>
                <a:latin typeface="Arial Black"/>
                <a:cs typeface="Arial Black"/>
              </a:rPr>
              <a:t> </a:t>
            </a:r>
            <a:r>
              <a:rPr dirty="0" sz="3000" spc="-229">
                <a:solidFill>
                  <a:srgbClr val="122157"/>
                </a:solidFill>
                <a:latin typeface="Arial Black"/>
                <a:cs typeface="Arial Black"/>
              </a:rPr>
              <a:t>DARSHANI</a:t>
            </a:r>
            <a:endParaRPr sz="3000">
              <a:latin typeface="Arial Black"/>
              <a:cs typeface="Arial Black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72323" y="4073525"/>
            <a:ext cx="4440555" cy="1987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300"/>
              </a:lnSpc>
              <a:spcBef>
                <a:spcPts val="100"/>
              </a:spcBef>
            </a:pPr>
            <a:r>
              <a:rPr dirty="0" sz="6000" spc="40" b="1">
                <a:solidFill>
                  <a:srgbClr val="FFFFFF"/>
                </a:solidFill>
                <a:latin typeface="Georgia"/>
                <a:cs typeface="Georgia"/>
              </a:rPr>
              <a:t>TEAM </a:t>
            </a:r>
            <a:r>
              <a:rPr dirty="0" sz="6000" spc="60" b="1">
                <a:solidFill>
                  <a:srgbClr val="FFFFFF"/>
                </a:solidFill>
                <a:latin typeface="Georgia"/>
                <a:cs typeface="Georgia"/>
              </a:rPr>
              <a:t>MEMBERS</a:t>
            </a:r>
            <a:endParaRPr sz="6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13"/>
            <a:ext cx="18288000" cy="10287635"/>
            <a:chOff x="0" y="-13"/>
            <a:chExt cx="18288000" cy="10287635"/>
          </a:xfrm>
        </p:grpSpPr>
        <p:sp>
          <p:nvSpPr>
            <p:cNvPr id="3" name="object 3" descr=""/>
            <p:cNvSpPr/>
            <p:nvPr/>
          </p:nvSpPr>
          <p:spPr>
            <a:xfrm>
              <a:off x="6603552" y="0"/>
              <a:ext cx="11684635" cy="10287000"/>
            </a:xfrm>
            <a:custGeom>
              <a:avLst/>
              <a:gdLst/>
              <a:ahLst/>
              <a:cxnLst/>
              <a:rect l="l" t="t" r="r" b="b"/>
              <a:pathLst>
                <a:path w="11684635" h="10287000">
                  <a:moveTo>
                    <a:pt x="0" y="10286999"/>
                  </a:moveTo>
                  <a:lnTo>
                    <a:pt x="11684445" y="10286999"/>
                  </a:lnTo>
                  <a:lnTo>
                    <a:pt x="11684445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CAE7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48389" y="119588"/>
              <a:ext cx="1576722" cy="157672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8389" y="3803785"/>
              <a:ext cx="1576722" cy="157672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-13"/>
              <a:ext cx="6603552" cy="1028671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49054" y="5325164"/>
              <a:ext cx="104775" cy="10477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49054" y="6811064"/>
              <a:ext cx="104775" cy="10477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49054" y="8296964"/>
              <a:ext cx="104775" cy="104774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701054" y="2096728"/>
            <a:ext cx="4733925" cy="4015104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7000" spc="310" b="1">
                <a:solidFill>
                  <a:srgbClr val="D9D9D9"/>
                </a:solidFill>
                <a:latin typeface="Trebuchet MS"/>
                <a:cs typeface="Trebuchet MS"/>
              </a:rPr>
              <a:t>Problem</a:t>
            </a:r>
            <a:endParaRPr sz="7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7000" spc="335" b="1">
                <a:solidFill>
                  <a:srgbClr val="6F8BAB"/>
                </a:solidFill>
                <a:latin typeface="Trebuchet MS"/>
                <a:cs typeface="Trebuchet MS"/>
              </a:rPr>
              <a:t>Statement</a:t>
            </a:r>
            <a:endParaRPr sz="7000">
              <a:latin typeface="Trebuchet MS"/>
              <a:cs typeface="Trebuchet MS"/>
            </a:endParaRPr>
          </a:p>
          <a:p>
            <a:pPr marL="12700" marR="847725">
              <a:lnSpc>
                <a:spcPct val="113300"/>
              </a:lnSpc>
              <a:spcBef>
                <a:spcPts val="4715"/>
              </a:spcBef>
            </a:pPr>
            <a:r>
              <a:rPr dirty="0" sz="3200" spc="-35">
                <a:solidFill>
                  <a:srgbClr val="F4F4F4"/>
                </a:solidFill>
                <a:latin typeface="Tahoma"/>
                <a:cs typeface="Tahoma"/>
              </a:rPr>
              <a:t>Inefficiency</a:t>
            </a:r>
            <a:r>
              <a:rPr dirty="0" sz="3200" spc="-145">
                <a:solidFill>
                  <a:srgbClr val="F4F4F4"/>
                </a:solidFill>
                <a:latin typeface="Tahoma"/>
                <a:cs typeface="Tahoma"/>
              </a:rPr>
              <a:t> </a:t>
            </a:r>
            <a:r>
              <a:rPr dirty="0" sz="3200">
                <a:solidFill>
                  <a:srgbClr val="F4F4F4"/>
                </a:solidFill>
                <a:latin typeface="Tahoma"/>
                <a:cs typeface="Tahoma"/>
              </a:rPr>
              <a:t>in</a:t>
            </a:r>
            <a:r>
              <a:rPr dirty="0" sz="3200" spc="-140">
                <a:solidFill>
                  <a:srgbClr val="F4F4F4"/>
                </a:solidFill>
                <a:latin typeface="Tahoma"/>
                <a:cs typeface="Tahoma"/>
              </a:rPr>
              <a:t> </a:t>
            </a:r>
            <a:r>
              <a:rPr dirty="0" sz="3200" spc="-10">
                <a:solidFill>
                  <a:srgbClr val="F4F4F4"/>
                </a:solidFill>
                <a:latin typeface="Tahoma"/>
                <a:cs typeface="Tahoma"/>
              </a:rPr>
              <a:t>Cardiac Diagnostics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696701" y="525985"/>
            <a:ext cx="8644890" cy="604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00">
                <a:solidFill>
                  <a:srgbClr val="122157"/>
                </a:solidFill>
                <a:latin typeface="Georgia"/>
                <a:cs typeface="Georgia"/>
              </a:rPr>
              <a:t>Inefficiency</a:t>
            </a:r>
            <a:r>
              <a:rPr dirty="0" sz="3800" spc="-120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3800">
                <a:solidFill>
                  <a:srgbClr val="122157"/>
                </a:solidFill>
                <a:latin typeface="Georgia"/>
                <a:cs typeface="Georgia"/>
              </a:rPr>
              <a:t>in</a:t>
            </a:r>
            <a:r>
              <a:rPr dirty="0" sz="3800" spc="-114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3800">
                <a:solidFill>
                  <a:srgbClr val="122157"/>
                </a:solidFill>
                <a:latin typeface="Georgia"/>
                <a:cs typeface="Georgia"/>
              </a:rPr>
              <a:t>Cardiac</a:t>
            </a:r>
            <a:r>
              <a:rPr dirty="0" sz="3800" spc="-120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3800" spc="-10">
                <a:solidFill>
                  <a:srgbClr val="122157"/>
                </a:solidFill>
                <a:latin typeface="Georgia"/>
                <a:cs typeface="Georgia"/>
              </a:rPr>
              <a:t>Diagnostics</a:t>
            </a:r>
            <a:endParaRPr sz="3800">
              <a:latin typeface="Georgia"/>
              <a:cs typeface="Georg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696701" y="1326088"/>
            <a:ext cx="9266555" cy="2501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The</a:t>
            </a:r>
            <a:r>
              <a:rPr dirty="0" sz="2800" spc="-7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diagnosis</a:t>
            </a:r>
            <a:r>
              <a:rPr dirty="0" sz="2800" spc="-6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of</a:t>
            </a:r>
            <a:r>
              <a:rPr dirty="0" sz="2800" spc="-7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 spc="-10">
                <a:solidFill>
                  <a:srgbClr val="231F20"/>
                </a:solidFill>
                <a:latin typeface="Georgia"/>
                <a:cs typeface="Georgia"/>
              </a:rPr>
              <a:t>cardiovascular</a:t>
            </a:r>
            <a:r>
              <a:rPr dirty="0" sz="2800" spc="-7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disease</a:t>
            </a:r>
            <a:r>
              <a:rPr dirty="0" sz="2800" spc="-6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relies</a:t>
            </a:r>
            <a:r>
              <a:rPr dirty="0" sz="2800" spc="-7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heavily</a:t>
            </a:r>
            <a:r>
              <a:rPr dirty="0" sz="2800" spc="-6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 spc="-25">
                <a:solidFill>
                  <a:srgbClr val="231F20"/>
                </a:solidFill>
                <a:latin typeface="Georgia"/>
                <a:cs typeface="Georgia"/>
              </a:rPr>
              <a:t>on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expert</a:t>
            </a:r>
            <a:r>
              <a:rPr dirty="0" sz="2800" spc="-6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analysis</a:t>
            </a:r>
            <a:r>
              <a:rPr dirty="0" sz="2800" spc="-6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of</a:t>
            </a:r>
            <a:r>
              <a:rPr dirty="0" sz="2800" spc="-6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MRI</a:t>
            </a:r>
            <a:r>
              <a:rPr dirty="0" sz="2800" spc="-6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scans.</a:t>
            </a:r>
            <a:r>
              <a:rPr dirty="0" sz="2800" spc="-6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However,</a:t>
            </a:r>
            <a:r>
              <a:rPr dirty="0" sz="2800" spc="-6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this</a:t>
            </a:r>
            <a:r>
              <a:rPr dirty="0" sz="2800" spc="-6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 spc="-10">
                <a:solidFill>
                  <a:srgbClr val="231F20"/>
                </a:solidFill>
                <a:latin typeface="Georgia"/>
                <a:cs typeface="Georgia"/>
              </a:rPr>
              <a:t>manual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process</a:t>
            </a:r>
            <a:r>
              <a:rPr dirty="0" sz="2800" spc="-7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is</a:t>
            </a:r>
            <a:r>
              <a:rPr dirty="0" sz="2800" spc="-7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slow,</a:t>
            </a:r>
            <a:r>
              <a:rPr dirty="0" sz="2800" spc="-7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subjective,</a:t>
            </a:r>
            <a:r>
              <a:rPr dirty="0" sz="2800" spc="-7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and</a:t>
            </a:r>
            <a:r>
              <a:rPr dirty="0" sz="2800" spc="-7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creates</a:t>
            </a:r>
            <a:r>
              <a:rPr dirty="0" sz="2800" spc="-7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significant</a:t>
            </a:r>
            <a:r>
              <a:rPr dirty="0" sz="2800" spc="-7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delays</a:t>
            </a:r>
            <a:r>
              <a:rPr dirty="0" sz="2800" spc="-7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 spc="-25">
                <a:solidFill>
                  <a:srgbClr val="231F20"/>
                </a:solidFill>
                <a:latin typeface="Georgia"/>
                <a:cs typeface="Georgia"/>
              </a:rPr>
              <a:t>in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r>
              <a:rPr dirty="0" sz="2800" spc="-5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busy</a:t>
            </a:r>
            <a:r>
              <a:rPr dirty="0" sz="2800" spc="-5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clinical</a:t>
            </a:r>
            <a:r>
              <a:rPr dirty="0" sz="2800" spc="-5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environment,</a:t>
            </a:r>
            <a:r>
              <a:rPr dirty="0" sz="2800" spc="-5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posing</a:t>
            </a:r>
            <a:r>
              <a:rPr dirty="0" sz="2800" spc="-4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r>
              <a:rPr dirty="0" sz="2800" spc="-5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risk</a:t>
            </a:r>
            <a:r>
              <a:rPr dirty="0" sz="2800" spc="-5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to</a:t>
            </a:r>
            <a:r>
              <a:rPr dirty="0" sz="2800" spc="-5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both</a:t>
            </a:r>
            <a:r>
              <a:rPr dirty="0" sz="2800" spc="-5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 spc="-10">
                <a:solidFill>
                  <a:srgbClr val="231F20"/>
                </a:solidFill>
                <a:latin typeface="Georgia"/>
                <a:cs typeface="Georgia"/>
              </a:rPr>
              <a:t>patient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outcomes</a:t>
            </a:r>
            <a:r>
              <a:rPr dirty="0" sz="2800" spc="-8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and</a:t>
            </a:r>
            <a:r>
              <a:rPr dirty="0" sz="2800" spc="-8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31F20"/>
                </a:solidFill>
                <a:latin typeface="Georgia"/>
                <a:cs typeface="Georgia"/>
              </a:rPr>
              <a:t>hospital</a:t>
            </a:r>
            <a:r>
              <a:rPr dirty="0" sz="2800" spc="-8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800" spc="-10">
                <a:solidFill>
                  <a:srgbClr val="231F20"/>
                </a:solidFill>
                <a:latin typeface="Georgia"/>
                <a:cs typeface="Georgia"/>
              </a:rPr>
              <a:t>efficiency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640057" y="4249310"/>
            <a:ext cx="9922510" cy="528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00" spc="-10" b="1">
                <a:solidFill>
                  <a:srgbClr val="122157"/>
                </a:solidFill>
                <a:latin typeface="Georgia"/>
                <a:cs typeface="Georgia"/>
              </a:rPr>
              <a:t>Challenges</a:t>
            </a:r>
            <a:endParaRPr sz="3800">
              <a:latin typeface="Georgia"/>
              <a:cs typeface="Georgia"/>
            </a:endParaRPr>
          </a:p>
          <a:p>
            <a:pPr algn="just" marL="488950" marR="5080">
              <a:lnSpc>
                <a:spcPct val="116100"/>
              </a:lnSpc>
              <a:spcBef>
                <a:spcPts val="1745"/>
              </a:spcBef>
            </a:pPr>
            <a:r>
              <a:rPr dirty="0" sz="2800" spc="60" b="1">
                <a:solidFill>
                  <a:srgbClr val="153769"/>
                </a:solidFill>
                <a:latin typeface="Georgia"/>
                <a:cs typeface="Georgia"/>
              </a:rPr>
              <a:t>Slow</a:t>
            </a:r>
            <a:r>
              <a:rPr dirty="0" sz="2800" spc="220" b="1">
                <a:solidFill>
                  <a:srgbClr val="153769"/>
                </a:solidFill>
                <a:latin typeface="Georgia"/>
                <a:cs typeface="Georgia"/>
              </a:rPr>
              <a:t> </a:t>
            </a:r>
            <a:r>
              <a:rPr dirty="0" sz="2800" spc="65" b="1">
                <a:solidFill>
                  <a:srgbClr val="153769"/>
                </a:solidFill>
                <a:latin typeface="Georgia"/>
                <a:cs typeface="Georgia"/>
              </a:rPr>
              <a:t>Diagnosis:</a:t>
            </a:r>
            <a:r>
              <a:rPr dirty="0" sz="2800" spc="220" b="1">
                <a:solidFill>
                  <a:srgbClr val="153769"/>
                </a:solidFill>
                <a:latin typeface="Georgia"/>
                <a:cs typeface="Georgia"/>
              </a:rPr>
              <a:t> </a:t>
            </a:r>
            <a:r>
              <a:rPr dirty="0" sz="2800" spc="55">
                <a:latin typeface="Georgia"/>
                <a:cs typeface="Georgia"/>
              </a:rPr>
              <a:t>Manual</a:t>
            </a:r>
            <a:r>
              <a:rPr dirty="0" sz="2800" spc="220">
                <a:latin typeface="Georgia"/>
                <a:cs typeface="Georgia"/>
              </a:rPr>
              <a:t> </a:t>
            </a:r>
            <a:r>
              <a:rPr dirty="0" sz="2800" spc="65">
                <a:latin typeface="Georgia"/>
                <a:cs typeface="Georgia"/>
              </a:rPr>
              <a:t>review</a:t>
            </a:r>
            <a:r>
              <a:rPr dirty="0" sz="2800" spc="22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of</a:t>
            </a:r>
            <a:r>
              <a:rPr dirty="0" sz="2800" spc="220">
                <a:latin typeface="Georgia"/>
                <a:cs typeface="Georgia"/>
              </a:rPr>
              <a:t> </a:t>
            </a:r>
            <a:r>
              <a:rPr dirty="0" sz="2800" spc="65">
                <a:latin typeface="Georgia"/>
                <a:cs typeface="Georgia"/>
              </a:rPr>
              <a:t>complex</a:t>
            </a:r>
            <a:r>
              <a:rPr dirty="0" sz="2800" spc="21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MRI</a:t>
            </a:r>
            <a:r>
              <a:rPr dirty="0" sz="2800" spc="220">
                <a:latin typeface="Georgia"/>
                <a:cs typeface="Georgia"/>
              </a:rPr>
              <a:t> </a:t>
            </a:r>
            <a:r>
              <a:rPr dirty="0" sz="2800" spc="35">
                <a:latin typeface="Georgia"/>
                <a:cs typeface="Georgia"/>
              </a:rPr>
              <a:t>scans </a:t>
            </a:r>
            <a:r>
              <a:rPr dirty="0" sz="2800">
                <a:latin typeface="Georgia"/>
                <a:cs typeface="Georgia"/>
              </a:rPr>
              <a:t>by</a:t>
            </a:r>
            <a:r>
              <a:rPr dirty="0" sz="2800" spc="210">
                <a:latin typeface="Georgia"/>
                <a:cs typeface="Georgia"/>
              </a:rPr>
              <a:t> </a:t>
            </a:r>
            <a:r>
              <a:rPr dirty="0" sz="2800" spc="65">
                <a:latin typeface="Georgia"/>
                <a:cs typeface="Georgia"/>
              </a:rPr>
              <a:t>radiologists</a:t>
            </a:r>
            <a:r>
              <a:rPr dirty="0" sz="2800" spc="21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is</a:t>
            </a:r>
            <a:r>
              <a:rPr dirty="0" sz="2800" spc="21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a</a:t>
            </a:r>
            <a:r>
              <a:rPr dirty="0" sz="2800" spc="215">
                <a:latin typeface="Georgia"/>
                <a:cs typeface="Georgia"/>
              </a:rPr>
              <a:t> </a:t>
            </a:r>
            <a:r>
              <a:rPr dirty="0" sz="2800" spc="80">
                <a:latin typeface="Georgia"/>
                <a:cs typeface="Georgia"/>
              </a:rPr>
              <a:t>time-</a:t>
            </a:r>
            <a:r>
              <a:rPr dirty="0" sz="2800" spc="65">
                <a:latin typeface="Georgia"/>
                <a:cs typeface="Georgia"/>
              </a:rPr>
              <a:t>consuming</a:t>
            </a:r>
            <a:r>
              <a:rPr dirty="0" sz="2800" spc="215">
                <a:latin typeface="Georgia"/>
                <a:cs typeface="Georgia"/>
              </a:rPr>
              <a:t> </a:t>
            </a:r>
            <a:r>
              <a:rPr dirty="0" sz="2800" spc="70">
                <a:latin typeface="Georgia"/>
                <a:cs typeface="Georgia"/>
              </a:rPr>
              <a:t>bottleneck,</a:t>
            </a:r>
            <a:r>
              <a:rPr dirty="0" sz="2800" spc="215">
                <a:latin typeface="Georgia"/>
                <a:cs typeface="Georgia"/>
              </a:rPr>
              <a:t> </a:t>
            </a:r>
            <a:r>
              <a:rPr dirty="0" sz="2800" spc="55">
                <a:latin typeface="Georgia"/>
                <a:cs typeface="Georgia"/>
              </a:rPr>
              <a:t>delaying </a:t>
            </a:r>
            <a:r>
              <a:rPr dirty="0" sz="2800" spc="65">
                <a:latin typeface="Georgia"/>
                <a:cs typeface="Georgia"/>
              </a:rPr>
              <a:t>critical</a:t>
            </a:r>
            <a:r>
              <a:rPr dirty="0" sz="2800" spc="190">
                <a:latin typeface="Georgia"/>
                <a:cs typeface="Georgia"/>
              </a:rPr>
              <a:t> </a:t>
            </a:r>
            <a:r>
              <a:rPr dirty="0" sz="2800" spc="70">
                <a:latin typeface="Georgia"/>
                <a:cs typeface="Georgia"/>
              </a:rPr>
              <a:t>treatment</a:t>
            </a:r>
            <a:r>
              <a:rPr dirty="0" sz="2800" spc="190">
                <a:latin typeface="Georgia"/>
                <a:cs typeface="Georgia"/>
              </a:rPr>
              <a:t> </a:t>
            </a:r>
            <a:r>
              <a:rPr dirty="0" sz="2800" spc="55">
                <a:latin typeface="Georgia"/>
                <a:cs typeface="Georgia"/>
              </a:rPr>
              <a:t>decisions.</a:t>
            </a:r>
            <a:endParaRPr sz="2800">
              <a:latin typeface="Georgia"/>
              <a:cs typeface="Georgia"/>
            </a:endParaRPr>
          </a:p>
          <a:p>
            <a:pPr marL="488950" marR="206375">
              <a:lnSpc>
                <a:spcPct val="116100"/>
              </a:lnSpc>
            </a:pPr>
            <a:r>
              <a:rPr dirty="0" sz="2800" b="1">
                <a:solidFill>
                  <a:srgbClr val="153769"/>
                </a:solidFill>
                <a:latin typeface="Georgia"/>
                <a:cs typeface="Georgia"/>
              </a:rPr>
              <a:t>No</a:t>
            </a:r>
            <a:r>
              <a:rPr dirty="0" sz="2800" spc="200" b="1">
                <a:solidFill>
                  <a:srgbClr val="153769"/>
                </a:solidFill>
                <a:latin typeface="Georgia"/>
                <a:cs typeface="Georgia"/>
              </a:rPr>
              <a:t> </a:t>
            </a:r>
            <a:r>
              <a:rPr dirty="0" sz="2800" spc="70" b="1">
                <a:solidFill>
                  <a:srgbClr val="153769"/>
                </a:solidFill>
                <a:latin typeface="Georgia"/>
                <a:cs typeface="Georgia"/>
              </a:rPr>
              <a:t>Proactive</a:t>
            </a:r>
            <a:r>
              <a:rPr dirty="0" sz="2800" spc="204" b="1">
                <a:solidFill>
                  <a:srgbClr val="153769"/>
                </a:solidFill>
                <a:latin typeface="Georgia"/>
                <a:cs typeface="Georgia"/>
              </a:rPr>
              <a:t> </a:t>
            </a:r>
            <a:r>
              <a:rPr dirty="0" sz="2800" spc="65" b="1">
                <a:solidFill>
                  <a:srgbClr val="153769"/>
                </a:solidFill>
                <a:latin typeface="Georgia"/>
                <a:cs typeface="Georgia"/>
              </a:rPr>
              <a:t>Insights:</a:t>
            </a:r>
            <a:r>
              <a:rPr dirty="0" sz="2800" spc="210" b="1">
                <a:solidFill>
                  <a:srgbClr val="153769"/>
                </a:solidFill>
                <a:latin typeface="Georgia"/>
                <a:cs typeface="Georgia"/>
              </a:rPr>
              <a:t> </a:t>
            </a:r>
            <a:r>
              <a:rPr dirty="0" sz="2800" spc="65">
                <a:latin typeface="Georgia"/>
                <a:cs typeface="Georgia"/>
              </a:rPr>
              <a:t>Clinicians</a:t>
            </a:r>
            <a:r>
              <a:rPr dirty="0" sz="2800" spc="204">
                <a:latin typeface="Georgia"/>
                <a:cs typeface="Georgia"/>
              </a:rPr>
              <a:t> </a:t>
            </a:r>
            <a:r>
              <a:rPr dirty="0" sz="2800" spc="55">
                <a:latin typeface="Georgia"/>
                <a:cs typeface="Georgia"/>
              </a:rPr>
              <a:t>lack</a:t>
            </a:r>
            <a:r>
              <a:rPr dirty="0" sz="2800" spc="204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an</a:t>
            </a:r>
            <a:r>
              <a:rPr dirty="0" sz="2800" spc="204">
                <a:latin typeface="Georgia"/>
                <a:cs typeface="Georgia"/>
              </a:rPr>
              <a:t> </a:t>
            </a:r>
            <a:r>
              <a:rPr dirty="0" sz="2800" spc="55">
                <a:latin typeface="Georgia"/>
                <a:cs typeface="Georgia"/>
              </a:rPr>
              <a:t>automated </a:t>
            </a:r>
            <a:r>
              <a:rPr dirty="0" sz="2800" spc="65">
                <a:latin typeface="Georgia"/>
                <a:cs typeface="Georgia"/>
              </a:rPr>
              <a:t>system</a:t>
            </a:r>
            <a:r>
              <a:rPr dirty="0" sz="2800" spc="20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to</a:t>
            </a:r>
            <a:r>
              <a:rPr dirty="0" sz="2800" spc="200">
                <a:latin typeface="Georgia"/>
                <a:cs typeface="Georgia"/>
              </a:rPr>
              <a:t> </a:t>
            </a:r>
            <a:r>
              <a:rPr dirty="0" sz="2800" spc="50">
                <a:latin typeface="Georgia"/>
                <a:cs typeface="Georgia"/>
              </a:rPr>
              <a:t>flag</a:t>
            </a:r>
            <a:r>
              <a:rPr dirty="0" sz="2800" spc="200">
                <a:latin typeface="Georgia"/>
                <a:cs typeface="Georgia"/>
              </a:rPr>
              <a:t> </a:t>
            </a:r>
            <a:r>
              <a:rPr dirty="0" sz="2800" spc="75">
                <a:latin typeface="Georgia"/>
                <a:cs typeface="Georgia"/>
              </a:rPr>
              <a:t>high-</a:t>
            </a:r>
            <a:r>
              <a:rPr dirty="0" sz="2800" spc="65">
                <a:latin typeface="Georgia"/>
                <a:cs typeface="Georgia"/>
              </a:rPr>
              <a:t>priority</a:t>
            </a:r>
            <a:r>
              <a:rPr dirty="0" sz="2800" spc="204">
                <a:latin typeface="Georgia"/>
                <a:cs typeface="Georgia"/>
              </a:rPr>
              <a:t> </a:t>
            </a:r>
            <a:r>
              <a:rPr dirty="0" sz="2800" spc="55">
                <a:latin typeface="Georgia"/>
                <a:cs typeface="Georgia"/>
              </a:rPr>
              <a:t>cases</a:t>
            </a:r>
            <a:r>
              <a:rPr dirty="0" sz="2800" spc="20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or</a:t>
            </a:r>
            <a:r>
              <a:rPr dirty="0" sz="2800" spc="200">
                <a:latin typeface="Georgia"/>
                <a:cs typeface="Georgia"/>
              </a:rPr>
              <a:t> </a:t>
            </a:r>
            <a:r>
              <a:rPr dirty="0" sz="2800" spc="65">
                <a:latin typeface="Georgia"/>
                <a:cs typeface="Georgia"/>
              </a:rPr>
              <a:t>identify</a:t>
            </a:r>
            <a:r>
              <a:rPr dirty="0" sz="2800" spc="200">
                <a:latin typeface="Georgia"/>
                <a:cs typeface="Georgia"/>
              </a:rPr>
              <a:t> </a:t>
            </a:r>
            <a:r>
              <a:rPr dirty="0" sz="2800" spc="60">
                <a:latin typeface="Georgia"/>
                <a:cs typeface="Georgia"/>
              </a:rPr>
              <a:t>trends</a:t>
            </a:r>
            <a:r>
              <a:rPr dirty="0" sz="2800" spc="204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in </a:t>
            </a:r>
            <a:r>
              <a:rPr dirty="0" sz="2800" spc="65">
                <a:latin typeface="Georgia"/>
                <a:cs typeface="Georgia"/>
              </a:rPr>
              <a:t>diagnostic</a:t>
            </a:r>
            <a:r>
              <a:rPr dirty="0" sz="2800" spc="180">
                <a:latin typeface="Georgia"/>
                <a:cs typeface="Georgia"/>
              </a:rPr>
              <a:t> </a:t>
            </a:r>
            <a:r>
              <a:rPr dirty="0" sz="2800" spc="50">
                <a:latin typeface="Georgia"/>
                <a:cs typeface="Georgia"/>
              </a:rPr>
              <a:t>data</a:t>
            </a:r>
            <a:r>
              <a:rPr dirty="0" sz="2800" spc="180">
                <a:latin typeface="Georgia"/>
                <a:cs typeface="Georgia"/>
              </a:rPr>
              <a:t> </a:t>
            </a:r>
            <a:r>
              <a:rPr dirty="0" sz="2800" spc="60">
                <a:latin typeface="Georgia"/>
                <a:cs typeface="Georgia"/>
              </a:rPr>
              <a:t>overtime.</a:t>
            </a:r>
            <a:endParaRPr sz="2800">
              <a:latin typeface="Georgia"/>
              <a:cs typeface="Georgia"/>
            </a:endParaRPr>
          </a:p>
          <a:p>
            <a:pPr algn="just" marL="488950" marR="156845">
              <a:lnSpc>
                <a:spcPct val="116100"/>
              </a:lnSpc>
            </a:pPr>
            <a:r>
              <a:rPr dirty="0" sz="2800" spc="50" b="1">
                <a:solidFill>
                  <a:srgbClr val="122157"/>
                </a:solidFill>
                <a:latin typeface="Georgia"/>
                <a:cs typeface="Georgia"/>
              </a:rPr>
              <a:t>Lack</a:t>
            </a:r>
            <a:r>
              <a:rPr dirty="0" sz="2800" spc="229" b="1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 b="1">
                <a:solidFill>
                  <a:srgbClr val="122157"/>
                </a:solidFill>
                <a:latin typeface="Georgia"/>
                <a:cs typeface="Georgia"/>
              </a:rPr>
              <a:t>of</a:t>
            </a:r>
            <a:r>
              <a:rPr dirty="0" sz="2800" spc="235" b="1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 spc="55" b="1">
                <a:solidFill>
                  <a:srgbClr val="122157"/>
                </a:solidFill>
                <a:latin typeface="Georgia"/>
                <a:cs typeface="Georgia"/>
              </a:rPr>
              <a:t>Trust</a:t>
            </a:r>
            <a:r>
              <a:rPr dirty="0" sz="2800" spc="235" b="1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 b="1">
                <a:solidFill>
                  <a:srgbClr val="122157"/>
                </a:solidFill>
                <a:latin typeface="Georgia"/>
                <a:cs typeface="Georgia"/>
              </a:rPr>
              <a:t>in</a:t>
            </a:r>
            <a:r>
              <a:rPr dirty="0" sz="2800" spc="235" b="1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 b="1">
                <a:solidFill>
                  <a:srgbClr val="122157"/>
                </a:solidFill>
                <a:latin typeface="Georgia"/>
                <a:cs typeface="Georgia"/>
              </a:rPr>
              <a:t>AI:</a:t>
            </a:r>
            <a:r>
              <a:rPr dirty="0" sz="2800" spc="235" b="1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 spc="50">
                <a:latin typeface="Georgia"/>
                <a:cs typeface="Georgia"/>
              </a:rPr>
              <a:t>Many</a:t>
            </a:r>
            <a:r>
              <a:rPr dirty="0" sz="2800" spc="23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AI</a:t>
            </a:r>
            <a:r>
              <a:rPr dirty="0" sz="2800" spc="229">
                <a:latin typeface="Georgia"/>
                <a:cs typeface="Georgia"/>
              </a:rPr>
              <a:t> </a:t>
            </a:r>
            <a:r>
              <a:rPr dirty="0" sz="2800" spc="55">
                <a:latin typeface="Georgia"/>
                <a:cs typeface="Georgia"/>
              </a:rPr>
              <a:t>tools</a:t>
            </a:r>
            <a:r>
              <a:rPr dirty="0" sz="2800" spc="23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are</a:t>
            </a:r>
            <a:r>
              <a:rPr dirty="0" sz="2800" spc="229">
                <a:latin typeface="Georgia"/>
                <a:cs typeface="Georgia"/>
              </a:rPr>
              <a:t> </a:t>
            </a:r>
            <a:r>
              <a:rPr dirty="0" sz="2800" spc="65">
                <a:latin typeface="Georgia"/>
                <a:cs typeface="Georgia"/>
              </a:rPr>
              <a:t>"black</a:t>
            </a:r>
            <a:r>
              <a:rPr dirty="0" sz="2800" spc="235">
                <a:latin typeface="Georgia"/>
                <a:cs typeface="Georgia"/>
              </a:rPr>
              <a:t> </a:t>
            </a:r>
            <a:r>
              <a:rPr dirty="0" sz="2800" spc="55">
                <a:latin typeface="Georgia"/>
                <a:cs typeface="Georgia"/>
              </a:rPr>
              <a:t>boxes," </a:t>
            </a:r>
            <a:r>
              <a:rPr dirty="0" sz="2800" spc="60">
                <a:latin typeface="Georgia"/>
                <a:cs typeface="Georgia"/>
              </a:rPr>
              <a:t>making</a:t>
            </a:r>
            <a:r>
              <a:rPr dirty="0" sz="2800" spc="21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it</a:t>
            </a:r>
            <a:r>
              <a:rPr dirty="0" sz="2800" spc="220">
                <a:latin typeface="Georgia"/>
                <a:cs typeface="Georgia"/>
              </a:rPr>
              <a:t> </a:t>
            </a:r>
            <a:r>
              <a:rPr dirty="0" sz="2800" spc="65">
                <a:latin typeface="Georgia"/>
                <a:cs typeface="Georgia"/>
              </a:rPr>
              <a:t>difficult</a:t>
            </a:r>
            <a:r>
              <a:rPr dirty="0" sz="2800" spc="22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for</a:t>
            </a:r>
            <a:r>
              <a:rPr dirty="0" sz="2800" spc="220">
                <a:latin typeface="Georgia"/>
                <a:cs typeface="Georgia"/>
              </a:rPr>
              <a:t> </a:t>
            </a:r>
            <a:r>
              <a:rPr dirty="0" sz="2800" spc="65">
                <a:latin typeface="Georgia"/>
                <a:cs typeface="Georgia"/>
              </a:rPr>
              <a:t>medical</a:t>
            </a:r>
            <a:r>
              <a:rPr dirty="0" sz="2800" spc="220">
                <a:latin typeface="Georgia"/>
                <a:cs typeface="Georgia"/>
              </a:rPr>
              <a:t> </a:t>
            </a:r>
            <a:r>
              <a:rPr dirty="0" sz="2800" spc="65">
                <a:latin typeface="Georgia"/>
                <a:cs typeface="Georgia"/>
              </a:rPr>
              <a:t>experts</a:t>
            </a:r>
            <a:r>
              <a:rPr dirty="0" sz="2800" spc="22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to</a:t>
            </a:r>
            <a:r>
              <a:rPr dirty="0" sz="2800" spc="220">
                <a:latin typeface="Georgia"/>
                <a:cs typeface="Georgia"/>
              </a:rPr>
              <a:t> </a:t>
            </a:r>
            <a:r>
              <a:rPr dirty="0" sz="2800" spc="60">
                <a:latin typeface="Georgia"/>
                <a:cs typeface="Georgia"/>
              </a:rPr>
              <a:t>trust</a:t>
            </a:r>
            <a:r>
              <a:rPr dirty="0" sz="2800" spc="22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or</a:t>
            </a:r>
            <a:r>
              <a:rPr dirty="0" sz="2800" spc="220">
                <a:latin typeface="Georgia"/>
                <a:cs typeface="Georgia"/>
              </a:rPr>
              <a:t> </a:t>
            </a:r>
            <a:r>
              <a:rPr dirty="0" sz="2800" spc="55">
                <a:latin typeface="Georgia"/>
                <a:cs typeface="Georgia"/>
              </a:rPr>
              <a:t>verify the</a:t>
            </a:r>
            <a:r>
              <a:rPr dirty="0" sz="2800" spc="175">
                <a:latin typeface="Georgia"/>
                <a:cs typeface="Georgia"/>
              </a:rPr>
              <a:t> </a:t>
            </a:r>
            <a:r>
              <a:rPr dirty="0" sz="2800" spc="70">
                <a:latin typeface="Georgia"/>
                <a:cs typeface="Georgia"/>
              </a:rPr>
              <a:t>machine's</a:t>
            </a:r>
            <a:r>
              <a:rPr dirty="0" sz="2800" spc="180">
                <a:latin typeface="Georgia"/>
                <a:cs typeface="Georgia"/>
              </a:rPr>
              <a:t> </a:t>
            </a:r>
            <a:r>
              <a:rPr dirty="0" sz="2800" spc="55">
                <a:latin typeface="Georgia"/>
                <a:cs typeface="Georgia"/>
              </a:rPr>
              <a:t>conclusions.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CAE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62865" rIns="0" bIns="0" rtlCol="0" vert="horz">
            <a:spAutoFit/>
          </a:bodyPr>
          <a:lstStyle/>
          <a:p>
            <a:pPr algn="just" marL="12700" marR="5080">
              <a:lnSpc>
                <a:spcPts val="8630"/>
              </a:lnSpc>
              <a:spcBef>
                <a:spcPts val="495"/>
              </a:spcBef>
            </a:pPr>
            <a:r>
              <a:rPr dirty="0" sz="7300" spc="229">
                <a:solidFill>
                  <a:srgbClr val="122058"/>
                </a:solidFill>
              </a:rPr>
              <a:t>AI-</a:t>
            </a:r>
            <a:r>
              <a:rPr dirty="0" sz="7300" spc="185">
                <a:solidFill>
                  <a:srgbClr val="122058"/>
                </a:solidFill>
              </a:rPr>
              <a:t>Powered</a:t>
            </a:r>
            <a:r>
              <a:rPr dirty="0" sz="7300" spc="550">
                <a:solidFill>
                  <a:srgbClr val="122058"/>
                </a:solidFill>
              </a:rPr>
              <a:t> </a:t>
            </a:r>
            <a:r>
              <a:rPr dirty="0" sz="7300" spc="160">
                <a:solidFill>
                  <a:srgbClr val="535353"/>
                </a:solidFill>
              </a:rPr>
              <a:t>Heart </a:t>
            </a:r>
            <a:r>
              <a:rPr dirty="0" sz="7300" spc="145">
                <a:solidFill>
                  <a:srgbClr val="535353"/>
                </a:solidFill>
              </a:rPr>
              <a:t>MRI</a:t>
            </a:r>
            <a:r>
              <a:rPr dirty="0" sz="7300" spc="525">
                <a:solidFill>
                  <a:srgbClr val="535353"/>
                </a:solidFill>
              </a:rPr>
              <a:t> </a:t>
            </a:r>
            <a:r>
              <a:rPr dirty="0" sz="7300" spc="210">
                <a:solidFill>
                  <a:srgbClr val="535353"/>
                </a:solidFill>
              </a:rPr>
              <a:t>Classification </a:t>
            </a:r>
            <a:r>
              <a:rPr dirty="0" sz="7300" spc="150">
                <a:solidFill>
                  <a:srgbClr val="535353"/>
                </a:solidFill>
              </a:rPr>
              <a:t>for</a:t>
            </a:r>
            <a:r>
              <a:rPr dirty="0" sz="7300" spc="515">
                <a:solidFill>
                  <a:srgbClr val="535353"/>
                </a:solidFill>
              </a:rPr>
              <a:t> </a:t>
            </a:r>
            <a:r>
              <a:rPr dirty="0" sz="7300" spc="200">
                <a:solidFill>
                  <a:srgbClr val="535353"/>
                </a:solidFill>
              </a:rPr>
              <a:t>Clinical</a:t>
            </a:r>
            <a:endParaRPr sz="7300"/>
          </a:p>
          <a:p>
            <a:pPr algn="just" marL="12700">
              <a:lnSpc>
                <a:spcPts val="8350"/>
              </a:lnSpc>
            </a:pPr>
            <a:r>
              <a:rPr dirty="0" sz="7300" spc="204">
                <a:solidFill>
                  <a:srgbClr val="535353"/>
                </a:solidFill>
              </a:rPr>
              <a:t>Decision</a:t>
            </a:r>
            <a:r>
              <a:rPr dirty="0" sz="7300" spc="515">
                <a:solidFill>
                  <a:srgbClr val="535353"/>
                </a:solidFill>
              </a:rPr>
              <a:t> </a:t>
            </a:r>
            <a:r>
              <a:rPr dirty="0" sz="7300" spc="190">
                <a:solidFill>
                  <a:srgbClr val="535353"/>
                </a:solidFill>
              </a:rPr>
              <a:t>Support</a:t>
            </a:r>
            <a:endParaRPr sz="7300"/>
          </a:p>
        </p:txBody>
      </p:sp>
      <p:sp>
        <p:nvSpPr>
          <p:cNvPr id="4" name="object 4" descr=""/>
          <p:cNvSpPr txBox="1"/>
          <p:nvPr/>
        </p:nvSpPr>
        <p:spPr>
          <a:xfrm>
            <a:off x="7628706" y="7633946"/>
            <a:ext cx="6410960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spc="204">
                <a:solidFill>
                  <a:srgbClr val="6F8BAB"/>
                </a:solidFill>
                <a:latin typeface="Tahoma"/>
                <a:cs typeface="Tahoma"/>
              </a:rPr>
              <a:t>TEAM</a:t>
            </a:r>
            <a:r>
              <a:rPr dirty="0" sz="3700" spc="575">
                <a:solidFill>
                  <a:srgbClr val="6F8BAB"/>
                </a:solidFill>
                <a:latin typeface="Tahoma"/>
                <a:cs typeface="Tahoma"/>
              </a:rPr>
              <a:t> </a:t>
            </a:r>
            <a:r>
              <a:rPr dirty="0" sz="3700">
                <a:solidFill>
                  <a:srgbClr val="6F8BAB"/>
                </a:solidFill>
                <a:latin typeface="Tahoma"/>
                <a:cs typeface="Tahoma"/>
              </a:rPr>
              <a:t>:</a:t>
            </a:r>
            <a:r>
              <a:rPr dirty="0" sz="3700" spc="575">
                <a:solidFill>
                  <a:srgbClr val="6F8BAB"/>
                </a:solidFill>
                <a:latin typeface="Tahoma"/>
                <a:cs typeface="Tahoma"/>
              </a:rPr>
              <a:t> </a:t>
            </a:r>
            <a:r>
              <a:rPr dirty="0" sz="3700" spc="180">
                <a:solidFill>
                  <a:srgbClr val="6F8BAB"/>
                </a:solidFill>
                <a:latin typeface="Tahoma"/>
                <a:cs typeface="Tahoma"/>
              </a:rPr>
              <a:t>BIG</a:t>
            </a:r>
            <a:r>
              <a:rPr dirty="0" sz="3700" spc="580">
                <a:solidFill>
                  <a:srgbClr val="6F8BAB"/>
                </a:solidFill>
                <a:latin typeface="Tahoma"/>
                <a:cs typeface="Tahoma"/>
              </a:rPr>
              <a:t> </a:t>
            </a:r>
            <a:r>
              <a:rPr dirty="0" sz="3700" spc="215">
                <a:solidFill>
                  <a:srgbClr val="6F8BAB"/>
                </a:solidFill>
                <a:latin typeface="Tahoma"/>
                <a:cs typeface="Tahoma"/>
              </a:rPr>
              <a:t>IRON-</a:t>
            </a:r>
            <a:r>
              <a:rPr dirty="0" sz="3700" spc="575">
                <a:solidFill>
                  <a:srgbClr val="6F8BAB"/>
                </a:solidFill>
                <a:latin typeface="Tahoma"/>
                <a:cs typeface="Tahoma"/>
              </a:rPr>
              <a:t> </a:t>
            </a:r>
            <a:r>
              <a:rPr dirty="0" sz="3700" spc="210">
                <a:solidFill>
                  <a:srgbClr val="6F8BAB"/>
                </a:solidFill>
                <a:latin typeface="Tahoma"/>
                <a:cs typeface="Tahoma"/>
              </a:rPr>
              <a:t>SAV106</a:t>
            </a:r>
            <a:endParaRPr sz="37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8196205" cy="102869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33"/>
            <a:ext cx="18288000" cy="10287635"/>
            <a:chOff x="0" y="-33"/>
            <a:chExt cx="18288000" cy="10287635"/>
          </a:xfrm>
        </p:grpSpPr>
        <p:sp>
          <p:nvSpPr>
            <p:cNvPr id="3" name="object 3" descr=""/>
            <p:cNvSpPr/>
            <p:nvPr/>
          </p:nvSpPr>
          <p:spPr>
            <a:xfrm>
              <a:off x="6153589" y="0"/>
              <a:ext cx="12134850" cy="10287000"/>
            </a:xfrm>
            <a:custGeom>
              <a:avLst/>
              <a:gdLst/>
              <a:ahLst/>
              <a:cxnLst/>
              <a:rect l="l" t="t" r="r" b="b"/>
              <a:pathLst>
                <a:path w="12134850" h="10287000">
                  <a:moveTo>
                    <a:pt x="0" y="10286999"/>
                  </a:moveTo>
                  <a:lnTo>
                    <a:pt x="12134409" y="10286999"/>
                  </a:lnTo>
                  <a:lnTo>
                    <a:pt x="12134409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CAE7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4219" y="279890"/>
              <a:ext cx="1505527" cy="150552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04219" y="4903047"/>
              <a:ext cx="1505527" cy="150552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-33"/>
              <a:ext cx="6153589" cy="1028693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95814" y="6341142"/>
              <a:ext cx="104774" cy="10477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95814" y="6826917"/>
              <a:ext cx="104774" cy="10477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95814" y="7798467"/>
              <a:ext cx="104774" cy="10477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95814" y="8770017"/>
              <a:ext cx="104774" cy="104774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713126" y="1703645"/>
            <a:ext cx="4708525" cy="2311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dirty="0" sz="7000" spc="235" b="1">
                <a:solidFill>
                  <a:srgbClr val="F4F4F4"/>
                </a:solidFill>
                <a:latin typeface="Trebuchet MS"/>
                <a:cs typeface="Trebuchet MS"/>
              </a:rPr>
              <a:t>Innovative </a:t>
            </a:r>
            <a:r>
              <a:rPr dirty="0" sz="7000" spc="225" b="1">
                <a:solidFill>
                  <a:srgbClr val="6F8BAB"/>
                </a:solidFill>
                <a:latin typeface="Trebuchet MS"/>
                <a:cs typeface="Trebuchet MS"/>
              </a:rPr>
              <a:t>Solution</a:t>
            </a:r>
            <a:endParaRPr sz="70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13126" y="5140893"/>
            <a:ext cx="4775835" cy="1682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dirty="0" sz="3200" spc="120">
                <a:solidFill>
                  <a:srgbClr val="FFFFFF"/>
                </a:solidFill>
                <a:latin typeface="Tahoma"/>
                <a:cs typeface="Tahoma"/>
              </a:rPr>
              <a:t>AI-</a:t>
            </a:r>
            <a:r>
              <a:rPr dirty="0" sz="3200" spc="105">
                <a:solidFill>
                  <a:srgbClr val="FFFFFF"/>
                </a:solidFill>
                <a:latin typeface="Tahoma"/>
                <a:cs typeface="Tahoma"/>
              </a:rPr>
              <a:t>Powered</a:t>
            </a:r>
            <a:r>
              <a:rPr dirty="0" sz="3200" spc="2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00" spc="95">
                <a:solidFill>
                  <a:srgbClr val="FFFFFF"/>
                </a:solidFill>
                <a:latin typeface="Tahoma"/>
                <a:cs typeface="Tahoma"/>
              </a:rPr>
              <a:t>Heart</a:t>
            </a:r>
            <a:r>
              <a:rPr dirty="0" sz="3200" spc="2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00" spc="50">
                <a:solidFill>
                  <a:srgbClr val="FFFFFF"/>
                </a:solidFill>
                <a:latin typeface="Tahoma"/>
                <a:cs typeface="Tahoma"/>
              </a:rPr>
              <a:t>MRI </a:t>
            </a:r>
            <a:r>
              <a:rPr dirty="0" sz="3200" spc="114">
                <a:solidFill>
                  <a:srgbClr val="FFFFFF"/>
                </a:solidFill>
                <a:latin typeface="Tahoma"/>
                <a:cs typeface="Tahoma"/>
              </a:rPr>
              <a:t>Classification</a:t>
            </a:r>
            <a:r>
              <a:rPr dirty="0" sz="3200" spc="3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00" spc="85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dirty="0" sz="3200" spc="3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00" spc="95">
                <a:solidFill>
                  <a:srgbClr val="FFFFFF"/>
                </a:solidFill>
                <a:latin typeface="Tahoma"/>
                <a:cs typeface="Tahoma"/>
              </a:rPr>
              <a:t>Clinical </a:t>
            </a:r>
            <a:r>
              <a:rPr dirty="0" sz="3200" spc="105">
                <a:solidFill>
                  <a:srgbClr val="FFFFFF"/>
                </a:solidFill>
                <a:latin typeface="Tahoma"/>
                <a:cs typeface="Tahoma"/>
              </a:rPr>
              <a:t>Decision</a:t>
            </a:r>
            <a:r>
              <a:rPr dirty="0" sz="3200" spc="3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00" spc="90">
                <a:solidFill>
                  <a:srgbClr val="FFFFFF"/>
                </a:solidFill>
                <a:latin typeface="Tahoma"/>
                <a:cs typeface="Tahoma"/>
              </a:rPr>
              <a:t>Support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954425" y="689818"/>
            <a:ext cx="3841750" cy="604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00">
                <a:solidFill>
                  <a:srgbClr val="122058"/>
                </a:solidFill>
                <a:latin typeface="Georgia"/>
                <a:cs typeface="Georgia"/>
              </a:rPr>
              <a:t>Main</a:t>
            </a:r>
            <a:r>
              <a:rPr dirty="0" sz="3800" spc="185">
                <a:solidFill>
                  <a:srgbClr val="122058"/>
                </a:solidFill>
                <a:latin typeface="Georgia"/>
                <a:cs typeface="Georgia"/>
              </a:rPr>
              <a:t> </a:t>
            </a:r>
            <a:r>
              <a:rPr dirty="0" sz="3800" spc="-10">
                <a:solidFill>
                  <a:srgbClr val="122058"/>
                </a:solidFill>
                <a:latin typeface="Georgia"/>
                <a:cs typeface="Georgia"/>
              </a:rPr>
              <a:t>Objective</a:t>
            </a:r>
            <a:endParaRPr sz="3800">
              <a:latin typeface="Georgia"/>
              <a:cs typeface="Georgi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043122" y="1942940"/>
            <a:ext cx="104775" cy="1562100"/>
            <a:chOff x="7043122" y="1942940"/>
            <a:chExt cx="104775" cy="1562100"/>
          </a:xfrm>
        </p:grpSpPr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43122" y="1942940"/>
              <a:ext cx="104774" cy="10477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43122" y="3400265"/>
              <a:ext cx="104774" cy="104774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6954425" y="1677770"/>
            <a:ext cx="9762490" cy="782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1950" marR="161925">
              <a:lnSpc>
                <a:spcPct val="113799"/>
              </a:lnSpc>
              <a:spcBef>
                <a:spcPts val="100"/>
              </a:spcBef>
            </a:pP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To</a:t>
            </a:r>
            <a:r>
              <a:rPr dirty="0" sz="2800" spc="5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develop</a:t>
            </a:r>
            <a:r>
              <a:rPr dirty="0" sz="2800" spc="10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an</a:t>
            </a:r>
            <a:r>
              <a:rPr dirty="0" sz="2800" spc="10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 spc="-10">
                <a:solidFill>
                  <a:srgbClr val="122157"/>
                </a:solidFill>
                <a:latin typeface="Georgia"/>
                <a:cs typeface="Georgia"/>
              </a:rPr>
              <a:t>enterprise-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grade</a:t>
            </a:r>
            <a:r>
              <a:rPr dirty="0" sz="2800" spc="5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AI</a:t>
            </a:r>
            <a:r>
              <a:rPr dirty="0" sz="2800" spc="10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clinical</a:t>
            </a:r>
            <a:r>
              <a:rPr dirty="0" sz="2800" spc="10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 spc="-10">
                <a:solidFill>
                  <a:srgbClr val="122157"/>
                </a:solidFill>
                <a:latin typeface="Georgia"/>
                <a:cs typeface="Georgia"/>
              </a:rPr>
              <a:t>co-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pilot,</a:t>
            </a:r>
            <a:r>
              <a:rPr dirty="0" sz="2800" spc="5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 spc="-10">
                <a:solidFill>
                  <a:srgbClr val="122157"/>
                </a:solidFill>
                <a:latin typeface="Georgia"/>
                <a:cs typeface="Georgia"/>
              </a:rPr>
              <a:t>aligned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with</a:t>
            </a:r>
            <a:r>
              <a:rPr dirty="0" sz="2800" spc="-15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IBM</a:t>
            </a:r>
            <a:r>
              <a:rPr dirty="0" sz="2800" spc="-10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Healthcare's</a:t>
            </a:r>
            <a:r>
              <a:rPr dirty="0" sz="2800" spc="-10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mission,</a:t>
            </a:r>
            <a:r>
              <a:rPr dirty="0" sz="2800" spc="-10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to</a:t>
            </a:r>
            <a:r>
              <a:rPr dirty="0" sz="2800" spc="-15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automate</a:t>
            </a:r>
            <a:r>
              <a:rPr dirty="0" sz="2800" spc="-10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 spc="-25">
                <a:solidFill>
                  <a:srgbClr val="122157"/>
                </a:solidFill>
                <a:latin typeface="Georgia"/>
                <a:cs typeface="Georgia"/>
              </a:rPr>
              <a:t>MRI </a:t>
            </a:r>
            <a:r>
              <a:rPr dirty="0" sz="2800" spc="-10">
                <a:solidFill>
                  <a:srgbClr val="122157"/>
                </a:solidFill>
                <a:latin typeface="Georgia"/>
                <a:cs typeface="Georgia"/>
              </a:rPr>
              <a:t>classification.</a:t>
            </a:r>
            <a:endParaRPr sz="2800">
              <a:latin typeface="Georgia"/>
              <a:cs typeface="Georgia"/>
            </a:endParaRPr>
          </a:p>
          <a:p>
            <a:pPr algn="just" marL="361950" marR="381635">
              <a:lnSpc>
                <a:spcPct val="113799"/>
              </a:lnSpc>
            </a:pP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Our</a:t>
            </a:r>
            <a:r>
              <a:rPr dirty="0" sz="2800" spc="-20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solution</a:t>
            </a:r>
            <a:r>
              <a:rPr dirty="0" sz="2800" spc="-15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fosters</a:t>
            </a:r>
            <a:r>
              <a:rPr dirty="0" sz="2800" spc="-20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diagnostic</a:t>
            </a:r>
            <a:r>
              <a:rPr dirty="0" sz="2800" spc="-15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efficiency</a:t>
            </a:r>
            <a:r>
              <a:rPr dirty="0" sz="2800" spc="-20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and</a:t>
            </a:r>
            <a:r>
              <a:rPr dirty="0" sz="2800" spc="-15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builds</a:t>
            </a:r>
            <a:r>
              <a:rPr dirty="0" sz="2800" spc="-15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 spc="-10">
                <a:solidFill>
                  <a:srgbClr val="122157"/>
                </a:solidFill>
                <a:latin typeface="Georgia"/>
                <a:cs typeface="Georgia"/>
              </a:rPr>
              <a:t>trust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through</a:t>
            </a:r>
            <a:r>
              <a:rPr dirty="0" sz="2800" spc="-15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integrated</a:t>
            </a:r>
            <a:r>
              <a:rPr dirty="0" sz="2800" spc="-15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Explainable</a:t>
            </a:r>
            <a:r>
              <a:rPr dirty="0" sz="2800" spc="-15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AI</a:t>
            </a:r>
            <a:r>
              <a:rPr dirty="0" sz="2800" spc="-15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and</a:t>
            </a:r>
            <a:r>
              <a:rPr dirty="0" sz="2800" spc="-15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122157"/>
                </a:solidFill>
                <a:latin typeface="Georgia"/>
                <a:cs typeface="Georgia"/>
              </a:rPr>
              <a:t>proactive</a:t>
            </a:r>
            <a:r>
              <a:rPr dirty="0" sz="2800" spc="-10">
                <a:solidFill>
                  <a:srgbClr val="122157"/>
                </a:solidFill>
                <a:latin typeface="Georgia"/>
                <a:cs typeface="Georgia"/>
              </a:rPr>
              <a:t> decision support.</a:t>
            </a:r>
            <a:endParaRPr sz="2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490"/>
              </a:spcBef>
            </a:pPr>
            <a:endParaRPr sz="2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800" b="1">
                <a:solidFill>
                  <a:srgbClr val="122157"/>
                </a:solidFill>
                <a:latin typeface="Georgia"/>
                <a:cs typeface="Georgia"/>
              </a:rPr>
              <a:t>Key</a:t>
            </a:r>
            <a:r>
              <a:rPr dirty="0" sz="3800" spc="-60" b="1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3800" spc="-10" b="1">
                <a:solidFill>
                  <a:srgbClr val="122157"/>
                </a:solidFill>
                <a:latin typeface="Georgia"/>
                <a:cs typeface="Georgia"/>
              </a:rPr>
              <a:t>Features</a:t>
            </a:r>
            <a:endParaRPr sz="3800">
              <a:latin typeface="Georgia"/>
              <a:cs typeface="Georgia"/>
            </a:endParaRPr>
          </a:p>
          <a:p>
            <a:pPr marL="414020" marR="5080">
              <a:lnSpc>
                <a:spcPct val="113799"/>
              </a:lnSpc>
              <a:spcBef>
                <a:spcPts val="1445"/>
              </a:spcBef>
            </a:pPr>
            <a:r>
              <a:rPr dirty="0" sz="2800" spc="50">
                <a:solidFill>
                  <a:srgbClr val="292E3A"/>
                </a:solidFill>
                <a:latin typeface="Georgia"/>
                <a:cs typeface="Georgia"/>
              </a:rPr>
              <a:t>Explainable</a:t>
            </a:r>
            <a:r>
              <a:rPr dirty="0" sz="2800" spc="19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92E3A"/>
                </a:solidFill>
                <a:latin typeface="Georgia"/>
                <a:cs typeface="Georgia"/>
              </a:rPr>
              <a:t>AI</a:t>
            </a:r>
            <a:r>
              <a:rPr dirty="0" sz="2800" spc="19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 spc="50">
                <a:solidFill>
                  <a:srgbClr val="292E3A"/>
                </a:solidFill>
                <a:latin typeface="Georgia"/>
                <a:cs typeface="Georgia"/>
              </a:rPr>
              <a:t>Heatmaps</a:t>
            </a:r>
            <a:r>
              <a:rPr dirty="0" sz="2800" spc="19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92E3A"/>
                </a:solidFill>
                <a:latin typeface="Georgia"/>
                <a:cs typeface="Georgia"/>
              </a:rPr>
              <a:t>show</a:t>
            </a:r>
            <a:r>
              <a:rPr dirty="0" sz="2800" spc="19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92E3A"/>
                </a:solidFill>
                <a:latin typeface="Georgia"/>
                <a:cs typeface="Georgia"/>
              </a:rPr>
              <a:t>why</a:t>
            </a:r>
            <a:r>
              <a:rPr dirty="0" sz="2800" spc="19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92E3A"/>
                </a:solidFill>
                <a:latin typeface="Georgia"/>
                <a:cs typeface="Georgia"/>
              </a:rPr>
              <a:t>a</a:t>
            </a:r>
            <a:r>
              <a:rPr dirty="0" sz="2800" spc="19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 spc="50">
                <a:solidFill>
                  <a:srgbClr val="292E3A"/>
                </a:solidFill>
                <a:latin typeface="Georgia"/>
                <a:cs typeface="Georgia"/>
              </a:rPr>
              <a:t>diagnosis</a:t>
            </a:r>
            <a:r>
              <a:rPr dirty="0" sz="2800" spc="19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92E3A"/>
                </a:solidFill>
                <a:latin typeface="Georgia"/>
                <a:cs typeface="Georgia"/>
              </a:rPr>
              <a:t>is</a:t>
            </a:r>
            <a:r>
              <a:rPr dirty="0" sz="2800" spc="19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 spc="-10">
                <a:solidFill>
                  <a:srgbClr val="292E3A"/>
                </a:solidFill>
                <a:latin typeface="Georgia"/>
                <a:cs typeface="Georgia"/>
              </a:rPr>
              <a:t>made. </a:t>
            </a:r>
            <a:r>
              <a:rPr dirty="0" sz="2800" spc="50">
                <a:solidFill>
                  <a:srgbClr val="292E3A"/>
                </a:solidFill>
                <a:latin typeface="Georgia"/>
                <a:cs typeface="Georgia"/>
              </a:rPr>
              <a:t>Proactive</a:t>
            </a:r>
            <a:r>
              <a:rPr dirty="0" sz="2800" spc="21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 spc="50">
                <a:solidFill>
                  <a:srgbClr val="292E3A"/>
                </a:solidFill>
                <a:latin typeface="Georgia"/>
                <a:cs typeface="Georgia"/>
              </a:rPr>
              <a:t>Alerts</a:t>
            </a:r>
            <a:r>
              <a:rPr dirty="0" sz="2800" spc="22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92E3A"/>
                </a:solidFill>
                <a:latin typeface="Georgia"/>
                <a:cs typeface="Georgia"/>
              </a:rPr>
              <a:t>flag</a:t>
            </a:r>
            <a:r>
              <a:rPr dirty="0" sz="2800" spc="22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 spc="50">
                <a:solidFill>
                  <a:srgbClr val="292E3A"/>
                </a:solidFill>
                <a:latin typeface="Georgia"/>
                <a:cs typeface="Georgia"/>
              </a:rPr>
              <a:t>recent,</a:t>
            </a:r>
            <a:r>
              <a:rPr dirty="0" sz="2800" spc="21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 spc="55">
                <a:solidFill>
                  <a:srgbClr val="292E3A"/>
                </a:solidFill>
                <a:latin typeface="Georgia"/>
                <a:cs typeface="Georgia"/>
              </a:rPr>
              <a:t>high-</a:t>
            </a:r>
            <a:r>
              <a:rPr dirty="0" sz="2800" spc="50">
                <a:solidFill>
                  <a:srgbClr val="292E3A"/>
                </a:solidFill>
                <a:latin typeface="Georgia"/>
                <a:cs typeface="Georgia"/>
              </a:rPr>
              <a:t>priority</a:t>
            </a:r>
            <a:r>
              <a:rPr dirty="0" sz="2800" spc="22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92E3A"/>
                </a:solidFill>
                <a:latin typeface="Georgia"/>
                <a:cs typeface="Georgia"/>
              </a:rPr>
              <a:t>"Sick"</a:t>
            </a:r>
            <a:r>
              <a:rPr dirty="0" sz="2800" spc="22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 spc="35">
                <a:solidFill>
                  <a:srgbClr val="292E3A"/>
                </a:solidFill>
                <a:latin typeface="Georgia"/>
                <a:cs typeface="Georgia"/>
              </a:rPr>
              <a:t>cases </a:t>
            </a:r>
            <a:r>
              <a:rPr dirty="0" sz="2800">
                <a:solidFill>
                  <a:srgbClr val="292E3A"/>
                </a:solidFill>
                <a:latin typeface="Georgia"/>
                <a:cs typeface="Georgia"/>
              </a:rPr>
              <a:t>upon</a:t>
            </a:r>
            <a:r>
              <a:rPr dirty="0" sz="2800" spc="31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 spc="-10">
                <a:solidFill>
                  <a:srgbClr val="292E3A"/>
                </a:solidFill>
                <a:latin typeface="Georgia"/>
                <a:cs typeface="Georgia"/>
              </a:rPr>
              <a:t>login.</a:t>
            </a:r>
            <a:endParaRPr sz="2800">
              <a:latin typeface="Georgia"/>
              <a:cs typeface="Georgia"/>
            </a:endParaRPr>
          </a:p>
          <a:p>
            <a:pPr marL="414020" marR="142240">
              <a:lnSpc>
                <a:spcPct val="113799"/>
              </a:lnSpc>
            </a:pPr>
            <a:r>
              <a:rPr dirty="0" sz="2800" spc="55">
                <a:solidFill>
                  <a:srgbClr val="292E3A"/>
                </a:solidFill>
                <a:latin typeface="Georgia"/>
                <a:cs typeface="Georgia"/>
              </a:rPr>
              <a:t>Watsonx</a:t>
            </a:r>
            <a:r>
              <a:rPr dirty="0" sz="2800" spc="17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 spc="55">
                <a:solidFill>
                  <a:srgbClr val="292E3A"/>
                </a:solidFill>
                <a:latin typeface="Georgia"/>
                <a:cs typeface="Georgia"/>
              </a:rPr>
              <a:t>Chatbot</a:t>
            </a:r>
            <a:r>
              <a:rPr dirty="0" sz="2800" spc="18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92E3A"/>
                </a:solidFill>
                <a:latin typeface="Georgia"/>
                <a:cs typeface="Georgia"/>
              </a:rPr>
              <a:t>for</a:t>
            </a:r>
            <a:r>
              <a:rPr dirty="0" sz="2800" spc="18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 spc="50">
                <a:solidFill>
                  <a:srgbClr val="292E3A"/>
                </a:solidFill>
                <a:latin typeface="Georgia"/>
                <a:cs typeface="Georgia"/>
              </a:rPr>
              <a:t>instant</a:t>
            </a:r>
            <a:r>
              <a:rPr dirty="0" sz="2800" spc="17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 spc="45">
                <a:solidFill>
                  <a:srgbClr val="292E3A"/>
                </a:solidFill>
                <a:latin typeface="Georgia"/>
                <a:cs typeface="Georgia"/>
              </a:rPr>
              <a:t>data</a:t>
            </a:r>
            <a:r>
              <a:rPr dirty="0" sz="2800" spc="18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 spc="55">
                <a:solidFill>
                  <a:srgbClr val="292E3A"/>
                </a:solidFill>
                <a:latin typeface="Georgia"/>
                <a:cs typeface="Georgia"/>
              </a:rPr>
              <a:t>retrieval</a:t>
            </a:r>
            <a:r>
              <a:rPr dirty="0" sz="2800" spc="18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 spc="45">
                <a:solidFill>
                  <a:srgbClr val="292E3A"/>
                </a:solidFill>
                <a:latin typeface="Georgia"/>
                <a:cs typeface="Georgia"/>
              </a:rPr>
              <a:t>from</a:t>
            </a:r>
            <a:r>
              <a:rPr dirty="0" sz="2800" spc="17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92E3A"/>
                </a:solidFill>
                <a:latin typeface="Georgia"/>
                <a:cs typeface="Georgia"/>
              </a:rPr>
              <a:t>the</a:t>
            </a:r>
            <a:r>
              <a:rPr dirty="0" sz="2800" spc="18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 spc="-20">
                <a:solidFill>
                  <a:srgbClr val="292E3A"/>
                </a:solidFill>
                <a:latin typeface="Georgia"/>
                <a:cs typeface="Georgia"/>
              </a:rPr>
              <a:t>live </a:t>
            </a:r>
            <a:r>
              <a:rPr dirty="0" sz="2800">
                <a:solidFill>
                  <a:srgbClr val="292E3A"/>
                </a:solidFill>
                <a:latin typeface="Georgia"/>
                <a:cs typeface="Georgia"/>
              </a:rPr>
              <a:t>IBM</a:t>
            </a:r>
            <a:r>
              <a:rPr dirty="0" sz="2800" spc="26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92E3A"/>
                </a:solidFill>
                <a:latin typeface="Georgia"/>
                <a:cs typeface="Georgia"/>
              </a:rPr>
              <a:t>Db2</a:t>
            </a:r>
            <a:r>
              <a:rPr dirty="0" sz="2800" spc="27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 spc="45">
                <a:solidFill>
                  <a:srgbClr val="292E3A"/>
                </a:solidFill>
                <a:latin typeface="Georgia"/>
                <a:cs typeface="Georgia"/>
              </a:rPr>
              <a:t>database.</a:t>
            </a:r>
            <a:endParaRPr sz="2800">
              <a:latin typeface="Georgia"/>
              <a:cs typeface="Georgia"/>
            </a:endParaRPr>
          </a:p>
          <a:p>
            <a:pPr marL="414020" marR="631190">
              <a:lnSpc>
                <a:spcPct val="113799"/>
              </a:lnSpc>
              <a:spcBef>
                <a:spcPts val="5"/>
              </a:spcBef>
            </a:pPr>
            <a:r>
              <a:rPr dirty="0" sz="2800" spc="50">
                <a:solidFill>
                  <a:srgbClr val="292E3A"/>
                </a:solidFill>
                <a:latin typeface="Georgia"/>
                <a:cs typeface="Georgia"/>
              </a:rPr>
              <a:t>Secure</a:t>
            </a:r>
            <a:r>
              <a:rPr dirty="0" sz="2800" spc="22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92E3A"/>
                </a:solidFill>
                <a:latin typeface="Georgia"/>
                <a:cs typeface="Georgia"/>
              </a:rPr>
              <a:t>IBM</a:t>
            </a:r>
            <a:r>
              <a:rPr dirty="0" sz="2800" spc="22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 spc="45">
                <a:solidFill>
                  <a:srgbClr val="292E3A"/>
                </a:solidFill>
                <a:latin typeface="Georgia"/>
                <a:cs typeface="Georgia"/>
              </a:rPr>
              <a:t>Cloud</a:t>
            </a:r>
            <a:r>
              <a:rPr dirty="0" sz="2800" spc="22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 spc="50">
                <a:solidFill>
                  <a:srgbClr val="292E3A"/>
                </a:solidFill>
                <a:latin typeface="Georgia"/>
                <a:cs typeface="Georgia"/>
              </a:rPr>
              <a:t>Architecture</a:t>
            </a:r>
            <a:r>
              <a:rPr dirty="0" sz="2800" spc="229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92E3A"/>
                </a:solidFill>
                <a:latin typeface="Georgia"/>
                <a:cs typeface="Georgia"/>
              </a:rPr>
              <a:t>using</a:t>
            </a:r>
            <a:r>
              <a:rPr dirty="0" sz="2800" spc="22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92E3A"/>
                </a:solidFill>
                <a:latin typeface="Georgia"/>
                <a:cs typeface="Georgia"/>
              </a:rPr>
              <a:t>Db2</a:t>
            </a:r>
            <a:r>
              <a:rPr dirty="0" sz="2800" spc="22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292E3A"/>
                </a:solidFill>
                <a:latin typeface="Georgia"/>
                <a:cs typeface="Georgia"/>
              </a:rPr>
              <a:t>and</a:t>
            </a:r>
            <a:r>
              <a:rPr dirty="0" sz="2800" spc="22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 spc="35">
                <a:solidFill>
                  <a:srgbClr val="292E3A"/>
                </a:solidFill>
                <a:latin typeface="Georgia"/>
                <a:cs typeface="Georgia"/>
              </a:rPr>
              <a:t>Cloud </a:t>
            </a:r>
            <a:r>
              <a:rPr dirty="0" sz="2800" spc="50">
                <a:solidFill>
                  <a:srgbClr val="292E3A"/>
                </a:solidFill>
                <a:latin typeface="Georgia"/>
                <a:cs typeface="Georgia"/>
              </a:rPr>
              <a:t>Object</a:t>
            </a:r>
            <a:r>
              <a:rPr dirty="0" sz="2800" spc="13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800" spc="40">
                <a:solidFill>
                  <a:srgbClr val="292E3A"/>
                </a:solidFill>
                <a:latin typeface="Georgia"/>
                <a:cs typeface="Georgia"/>
              </a:rPr>
              <a:t>Storage.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6"/>
            <a:ext cx="18288000" cy="10287000"/>
            <a:chOff x="0" y="-6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6062138" y="0"/>
              <a:ext cx="12226290" cy="10287000"/>
            </a:xfrm>
            <a:custGeom>
              <a:avLst/>
              <a:gdLst/>
              <a:ahLst/>
              <a:cxnLst/>
              <a:rect l="l" t="t" r="r" b="b"/>
              <a:pathLst>
                <a:path w="12226290" h="10287000">
                  <a:moveTo>
                    <a:pt x="0" y="10286999"/>
                  </a:moveTo>
                  <a:lnTo>
                    <a:pt x="12225860" y="10286999"/>
                  </a:lnTo>
                  <a:lnTo>
                    <a:pt x="12225860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CAE7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4542" y="1692656"/>
              <a:ext cx="1505527" cy="150552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-6"/>
              <a:ext cx="6062138" cy="1027614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3126" y="1703645"/>
            <a:ext cx="4701540" cy="2311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dirty="0" spc="229"/>
              <a:t>Innovative </a:t>
            </a:r>
            <a:r>
              <a:rPr dirty="0" spc="220">
                <a:solidFill>
                  <a:srgbClr val="6F8BAB"/>
                </a:solidFill>
              </a:rPr>
              <a:t>Solution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13126" y="5178993"/>
            <a:ext cx="4775835" cy="1682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dirty="0" sz="3200" spc="120">
                <a:solidFill>
                  <a:srgbClr val="FFFFFF"/>
                </a:solidFill>
                <a:latin typeface="Tahoma"/>
                <a:cs typeface="Tahoma"/>
              </a:rPr>
              <a:t>AI-</a:t>
            </a:r>
            <a:r>
              <a:rPr dirty="0" sz="3200" spc="105">
                <a:solidFill>
                  <a:srgbClr val="FFFFFF"/>
                </a:solidFill>
                <a:latin typeface="Tahoma"/>
                <a:cs typeface="Tahoma"/>
              </a:rPr>
              <a:t>Powered</a:t>
            </a:r>
            <a:r>
              <a:rPr dirty="0" sz="3200" spc="2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00" spc="95">
                <a:solidFill>
                  <a:srgbClr val="FFFFFF"/>
                </a:solidFill>
                <a:latin typeface="Tahoma"/>
                <a:cs typeface="Tahoma"/>
              </a:rPr>
              <a:t>Heart</a:t>
            </a:r>
            <a:r>
              <a:rPr dirty="0" sz="3200" spc="2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00" spc="50">
                <a:solidFill>
                  <a:srgbClr val="FFFFFF"/>
                </a:solidFill>
                <a:latin typeface="Tahoma"/>
                <a:cs typeface="Tahoma"/>
              </a:rPr>
              <a:t>MRI </a:t>
            </a:r>
            <a:r>
              <a:rPr dirty="0" sz="3200" spc="114">
                <a:solidFill>
                  <a:srgbClr val="FFFFFF"/>
                </a:solidFill>
                <a:latin typeface="Tahoma"/>
                <a:cs typeface="Tahoma"/>
              </a:rPr>
              <a:t>Classification</a:t>
            </a:r>
            <a:r>
              <a:rPr dirty="0" sz="3200" spc="3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00" spc="85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dirty="0" sz="3200" spc="3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00" spc="95">
                <a:solidFill>
                  <a:srgbClr val="FFFFFF"/>
                </a:solidFill>
                <a:latin typeface="Tahoma"/>
                <a:cs typeface="Tahoma"/>
              </a:rPr>
              <a:t>Clinical </a:t>
            </a:r>
            <a:r>
              <a:rPr dirty="0" sz="3200" spc="105">
                <a:solidFill>
                  <a:srgbClr val="FFFFFF"/>
                </a:solidFill>
                <a:latin typeface="Tahoma"/>
                <a:cs typeface="Tahoma"/>
              </a:rPr>
              <a:t>Decision</a:t>
            </a:r>
            <a:r>
              <a:rPr dirty="0" sz="3200" spc="3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00" spc="90">
                <a:solidFill>
                  <a:srgbClr val="FFFFFF"/>
                </a:solidFill>
                <a:latin typeface="Tahoma"/>
                <a:cs typeface="Tahoma"/>
              </a:rPr>
              <a:t>Support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182324" y="3512073"/>
            <a:ext cx="114935" cy="2229485"/>
            <a:chOff x="7182324" y="3512073"/>
            <a:chExt cx="114935" cy="2229485"/>
          </a:xfrm>
        </p:grpSpPr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2324" y="3512073"/>
              <a:ext cx="114894" cy="11489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2324" y="4569102"/>
              <a:ext cx="114894" cy="11489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2324" y="5626131"/>
              <a:ext cx="114894" cy="114894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7475889" y="3219789"/>
            <a:ext cx="10282555" cy="3196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50190">
              <a:lnSpc>
                <a:spcPct val="115599"/>
              </a:lnSpc>
              <a:spcBef>
                <a:spcPts val="95"/>
              </a:spcBef>
            </a:pP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Faster</a:t>
            </a:r>
            <a:r>
              <a:rPr dirty="0" sz="3000" spc="-8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Diagnosis</a:t>
            </a:r>
            <a:r>
              <a:rPr dirty="0" sz="3000" spc="-7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to</a:t>
            </a:r>
            <a:r>
              <a:rPr dirty="0" sz="3000" spc="-7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reduce</a:t>
            </a:r>
            <a:r>
              <a:rPr dirty="0" sz="3000" spc="-7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radiologist</a:t>
            </a:r>
            <a:r>
              <a:rPr dirty="0" sz="3000" spc="-7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workload</a:t>
            </a:r>
            <a:r>
              <a:rPr dirty="0" sz="3000" spc="-7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and</a:t>
            </a:r>
            <a:r>
              <a:rPr dirty="0" sz="3000" spc="-6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 spc="-10">
                <a:solidFill>
                  <a:srgbClr val="292E3A"/>
                </a:solidFill>
                <a:latin typeface="Georgia"/>
                <a:cs typeface="Georgia"/>
              </a:rPr>
              <a:t>patient </a:t>
            </a: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wait</a:t>
            </a:r>
            <a:r>
              <a:rPr dirty="0" sz="3000" spc="-4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 spc="-10">
                <a:solidFill>
                  <a:srgbClr val="292E3A"/>
                </a:solidFill>
                <a:latin typeface="Georgia"/>
                <a:cs typeface="Georgia"/>
              </a:rPr>
              <a:t>times.</a:t>
            </a:r>
            <a:endParaRPr sz="3000">
              <a:latin typeface="Georgia"/>
              <a:cs typeface="Georgia"/>
            </a:endParaRPr>
          </a:p>
          <a:p>
            <a:pPr marL="12700" marR="5080">
              <a:lnSpc>
                <a:spcPct val="115599"/>
              </a:lnSpc>
            </a:pP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Increased</a:t>
            </a:r>
            <a:r>
              <a:rPr dirty="0" sz="3000" spc="-9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Clinical</a:t>
            </a:r>
            <a:r>
              <a:rPr dirty="0" sz="3000" spc="-7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Trust</a:t>
            </a:r>
            <a:r>
              <a:rPr dirty="0" sz="3000" spc="-7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through</a:t>
            </a:r>
            <a:r>
              <a:rPr dirty="0" sz="3000" spc="-8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transparent</a:t>
            </a:r>
            <a:r>
              <a:rPr dirty="0" sz="3000" spc="-7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and</a:t>
            </a:r>
            <a:r>
              <a:rPr dirty="0" sz="3000" spc="-7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 spc="-10">
                <a:solidFill>
                  <a:srgbClr val="292E3A"/>
                </a:solidFill>
                <a:latin typeface="Georgia"/>
                <a:cs typeface="Georgia"/>
              </a:rPr>
              <a:t>explainable </a:t>
            </a:r>
            <a:r>
              <a:rPr dirty="0" sz="3000" spc="-25">
                <a:solidFill>
                  <a:srgbClr val="292E3A"/>
                </a:solidFill>
                <a:latin typeface="Georgia"/>
                <a:cs typeface="Georgia"/>
              </a:rPr>
              <a:t>AI.</a:t>
            </a:r>
            <a:endParaRPr sz="3000">
              <a:latin typeface="Georgia"/>
              <a:cs typeface="Georgia"/>
            </a:endParaRPr>
          </a:p>
          <a:p>
            <a:pPr marL="12700" marR="445134">
              <a:lnSpc>
                <a:spcPct val="115599"/>
              </a:lnSpc>
            </a:pP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Improved</a:t>
            </a:r>
            <a:r>
              <a:rPr dirty="0" sz="3000" spc="-9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Workflow</a:t>
            </a:r>
            <a:r>
              <a:rPr dirty="0" sz="3000" spc="-8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by</a:t>
            </a:r>
            <a:r>
              <a:rPr dirty="0" sz="3000" spc="-8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automatically</a:t>
            </a:r>
            <a:r>
              <a:rPr dirty="0" sz="3000" spc="-8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prioritizing</a:t>
            </a:r>
            <a:r>
              <a:rPr dirty="0" sz="3000" spc="-8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the</a:t>
            </a:r>
            <a:r>
              <a:rPr dirty="0" sz="3000" spc="-8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 spc="-20">
                <a:solidFill>
                  <a:srgbClr val="292E3A"/>
                </a:solidFill>
                <a:latin typeface="Georgia"/>
                <a:cs typeface="Georgia"/>
              </a:rPr>
              <a:t>most </a:t>
            </a: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critical</a:t>
            </a:r>
            <a:r>
              <a:rPr dirty="0" sz="3000" spc="-8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>
                <a:solidFill>
                  <a:srgbClr val="292E3A"/>
                </a:solidFill>
                <a:latin typeface="Georgia"/>
                <a:cs typeface="Georgia"/>
              </a:rPr>
              <a:t>patient</a:t>
            </a:r>
            <a:r>
              <a:rPr dirty="0" sz="3000" spc="-8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3000" spc="-10">
                <a:solidFill>
                  <a:srgbClr val="292E3A"/>
                </a:solidFill>
                <a:latin typeface="Georgia"/>
                <a:cs typeface="Georgia"/>
              </a:rPr>
              <a:t>scans.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118608" y="2102584"/>
            <a:ext cx="2075180" cy="60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00" spc="-10" b="1">
                <a:solidFill>
                  <a:srgbClr val="122058"/>
                </a:solidFill>
                <a:latin typeface="Georgia"/>
                <a:cs typeface="Georgia"/>
              </a:rPr>
              <a:t>Benefits</a:t>
            </a:r>
            <a:endParaRPr sz="3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0" y="1539457"/>
              <a:ext cx="18288000" cy="8747760"/>
            </a:xfrm>
            <a:custGeom>
              <a:avLst/>
              <a:gdLst/>
              <a:ahLst/>
              <a:cxnLst/>
              <a:rect l="l" t="t" r="r" b="b"/>
              <a:pathLst>
                <a:path w="18288000" h="8747760">
                  <a:moveTo>
                    <a:pt x="0" y="8747541"/>
                  </a:moveTo>
                  <a:lnTo>
                    <a:pt x="18287998" y="8747541"/>
                  </a:lnTo>
                  <a:lnTo>
                    <a:pt x="18287998" y="0"/>
                  </a:lnTo>
                  <a:lnTo>
                    <a:pt x="0" y="0"/>
                  </a:lnTo>
                  <a:lnTo>
                    <a:pt x="0" y="8747541"/>
                  </a:lnTo>
                  <a:close/>
                </a:path>
              </a:pathLst>
            </a:custGeom>
            <a:solidFill>
              <a:srgbClr val="CAE7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53945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2086" y="1539456"/>
              <a:ext cx="13449299" cy="874754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170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SYSTEM</a:t>
            </a:r>
            <a:r>
              <a:rPr dirty="0" spc="-50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6730" cy="10287000"/>
            <a:chOff x="0" y="0"/>
            <a:chExt cx="1828673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6685" cy="10286713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5237714" y="677836"/>
              <a:ext cx="2971165" cy="705485"/>
            </a:xfrm>
            <a:custGeom>
              <a:avLst/>
              <a:gdLst/>
              <a:ahLst/>
              <a:cxnLst/>
              <a:rect l="l" t="t" r="r" b="b"/>
              <a:pathLst>
                <a:path w="2971165" h="705485">
                  <a:moveTo>
                    <a:pt x="508482" y="449491"/>
                  </a:moveTo>
                  <a:lnTo>
                    <a:pt x="504393" y="403567"/>
                  </a:lnTo>
                  <a:lnTo>
                    <a:pt x="492582" y="360413"/>
                  </a:lnTo>
                  <a:lnTo>
                    <a:pt x="473811" y="320611"/>
                  </a:lnTo>
                  <a:lnTo>
                    <a:pt x="448754" y="285013"/>
                  </a:lnTo>
                  <a:lnTo>
                    <a:pt x="418071" y="254215"/>
                  </a:lnTo>
                  <a:lnTo>
                    <a:pt x="382625" y="229044"/>
                  </a:lnTo>
                  <a:lnTo>
                    <a:pt x="343001" y="210197"/>
                  </a:lnTo>
                  <a:lnTo>
                    <a:pt x="300024" y="198335"/>
                  </a:lnTo>
                  <a:lnTo>
                    <a:pt x="254292" y="194221"/>
                  </a:lnTo>
                  <a:lnTo>
                    <a:pt x="208559" y="198335"/>
                  </a:lnTo>
                  <a:lnTo>
                    <a:pt x="165595" y="210197"/>
                  </a:lnTo>
                  <a:lnTo>
                    <a:pt x="125958" y="229044"/>
                  </a:lnTo>
                  <a:lnTo>
                    <a:pt x="90512" y="254215"/>
                  </a:lnTo>
                  <a:lnTo>
                    <a:pt x="59842" y="285013"/>
                  </a:lnTo>
                  <a:lnTo>
                    <a:pt x="34683" y="320611"/>
                  </a:lnTo>
                  <a:lnTo>
                    <a:pt x="15913" y="360413"/>
                  </a:lnTo>
                  <a:lnTo>
                    <a:pt x="4102" y="403567"/>
                  </a:lnTo>
                  <a:lnTo>
                    <a:pt x="0" y="449491"/>
                  </a:lnTo>
                  <a:lnTo>
                    <a:pt x="4102" y="495414"/>
                  </a:lnTo>
                  <a:lnTo>
                    <a:pt x="15913" y="538568"/>
                  </a:lnTo>
                  <a:lnTo>
                    <a:pt x="34683" y="578358"/>
                  </a:lnTo>
                  <a:lnTo>
                    <a:pt x="59740" y="613956"/>
                  </a:lnTo>
                  <a:lnTo>
                    <a:pt x="90424" y="644766"/>
                  </a:lnTo>
                  <a:lnTo>
                    <a:pt x="125869" y="669925"/>
                  </a:lnTo>
                  <a:lnTo>
                    <a:pt x="165493" y="688771"/>
                  </a:lnTo>
                  <a:lnTo>
                    <a:pt x="208470" y="700633"/>
                  </a:lnTo>
                  <a:lnTo>
                    <a:pt x="254203" y="704748"/>
                  </a:lnTo>
                  <a:lnTo>
                    <a:pt x="299935" y="700633"/>
                  </a:lnTo>
                  <a:lnTo>
                    <a:pt x="342900" y="688771"/>
                  </a:lnTo>
                  <a:lnTo>
                    <a:pt x="382536" y="669925"/>
                  </a:lnTo>
                  <a:lnTo>
                    <a:pt x="417982" y="644766"/>
                  </a:lnTo>
                  <a:lnTo>
                    <a:pt x="448652" y="613956"/>
                  </a:lnTo>
                  <a:lnTo>
                    <a:pt x="473710" y="578358"/>
                  </a:lnTo>
                  <a:lnTo>
                    <a:pt x="492480" y="538568"/>
                  </a:lnTo>
                  <a:lnTo>
                    <a:pt x="504291" y="495414"/>
                  </a:lnTo>
                  <a:lnTo>
                    <a:pt x="508482" y="449491"/>
                  </a:lnTo>
                  <a:close/>
                </a:path>
                <a:path w="2971165" h="705485">
                  <a:moveTo>
                    <a:pt x="2971165" y="352475"/>
                  </a:moveTo>
                  <a:lnTo>
                    <a:pt x="2967926" y="304634"/>
                  </a:lnTo>
                  <a:lnTo>
                    <a:pt x="2958579" y="258800"/>
                  </a:lnTo>
                  <a:lnTo>
                    <a:pt x="2943529" y="215265"/>
                  </a:lnTo>
                  <a:lnTo>
                    <a:pt x="2923235" y="174612"/>
                  </a:lnTo>
                  <a:lnTo>
                    <a:pt x="2897987" y="137109"/>
                  </a:lnTo>
                  <a:lnTo>
                    <a:pt x="2868358" y="103238"/>
                  </a:lnTo>
                  <a:lnTo>
                    <a:pt x="2834627" y="73482"/>
                  </a:lnTo>
                  <a:lnTo>
                    <a:pt x="2797289" y="48120"/>
                  </a:lnTo>
                  <a:lnTo>
                    <a:pt x="2756789" y="27749"/>
                  </a:lnTo>
                  <a:lnTo>
                    <a:pt x="2713444" y="12623"/>
                  </a:lnTo>
                  <a:lnTo>
                    <a:pt x="2667800" y="3251"/>
                  </a:lnTo>
                  <a:lnTo>
                    <a:pt x="2620162" y="0"/>
                  </a:lnTo>
                  <a:lnTo>
                    <a:pt x="2572524" y="3251"/>
                  </a:lnTo>
                  <a:lnTo>
                    <a:pt x="2526893" y="12623"/>
                  </a:lnTo>
                  <a:lnTo>
                    <a:pt x="2483548" y="27749"/>
                  </a:lnTo>
                  <a:lnTo>
                    <a:pt x="2443048" y="48120"/>
                  </a:lnTo>
                  <a:lnTo>
                    <a:pt x="2405697" y="73482"/>
                  </a:lnTo>
                  <a:lnTo>
                    <a:pt x="2371979" y="103238"/>
                  </a:lnTo>
                  <a:lnTo>
                    <a:pt x="2342350" y="137109"/>
                  </a:lnTo>
                  <a:lnTo>
                    <a:pt x="2317102" y="174612"/>
                  </a:lnTo>
                  <a:lnTo>
                    <a:pt x="2296807" y="215265"/>
                  </a:lnTo>
                  <a:lnTo>
                    <a:pt x="2281745" y="258800"/>
                  </a:lnTo>
                  <a:lnTo>
                    <a:pt x="2272411" y="304634"/>
                  </a:lnTo>
                  <a:lnTo>
                    <a:pt x="2269172" y="352475"/>
                  </a:lnTo>
                  <a:lnTo>
                    <a:pt x="2272411" y="400304"/>
                  </a:lnTo>
                  <a:lnTo>
                    <a:pt x="2281745" y="446138"/>
                  </a:lnTo>
                  <a:lnTo>
                    <a:pt x="2296807" y="489673"/>
                  </a:lnTo>
                  <a:lnTo>
                    <a:pt x="2317102" y="530339"/>
                  </a:lnTo>
                  <a:lnTo>
                    <a:pt x="2342350" y="567842"/>
                  </a:lnTo>
                  <a:lnTo>
                    <a:pt x="2371979" y="601713"/>
                  </a:lnTo>
                  <a:lnTo>
                    <a:pt x="2405697" y="631469"/>
                  </a:lnTo>
                  <a:lnTo>
                    <a:pt x="2443048" y="656818"/>
                  </a:lnTo>
                  <a:lnTo>
                    <a:pt x="2483548" y="677202"/>
                  </a:lnTo>
                  <a:lnTo>
                    <a:pt x="2526893" y="692315"/>
                  </a:lnTo>
                  <a:lnTo>
                    <a:pt x="2572524" y="701687"/>
                  </a:lnTo>
                  <a:lnTo>
                    <a:pt x="2620162" y="704938"/>
                  </a:lnTo>
                  <a:lnTo>
                    <a:pt x="2667800" y="701687"/>
                  </a:lnTo>
                  <a:lnTo>
                    <a:pt x="2713444" y="692315"/>
                  </a:lnTo>
                  <a:lnTo>
                    <a:pt x="2756789" y="677202"/>
                  </a:lnTo>
                  <a:lnTo>
                    <a:pt x="2797289" y="656818"/>
                  </a:lnTo>
                  <a:lnTo>
                    <a:pt x="2834627" y="631469"/>
                  </a:lnTo>
                  <a:lnTo>
                    <a:pt x="2868358" y="601713"/>
                  </a:lnTo>
                  <a:lnTo>
                    <a:pt x="2897987" y="567842"/>
                  </a:lnTo>
                  <a:lnTo>
                    <a:pt x="2923235" y="530339"/>
                  </a:lnTo>
                  <a:lnTo>
                    <a:pt x="2943529" y="489673"/>
                  </a:lnTo>
                  <a:lnTo>
                    <a:pt x="2958579" y="446138"/>
                  </a:lnTo>
                  <a:lnTo>
                    <a:pt x="2967926" y="400304"/>
                  </a:lnTo>
                  <a:lnTo>
                    <a:pt x="2971165" y="35247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700" y="1647656"/>
              <a:ext cx="6115049" cy="396239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01442" y="3851390"/>
              <a:ext cx="3524249" cy="596264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8700" y="5879093"/>
              <a:ext cx="9839323" cy="39338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74882" y="1914655"/>
              <a:ext cx="8543924" cy="141922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575" rIns="0" bIns="0" rtlCol="0" vert="horz">
            <a:spAutoFit/>
          </a:bodyPr>
          <a:lstStyle/>
          <a:p>
            <a:pPr marL="393065">
              <a:lnSpc>
                <a:spcPct val="100000"/>
              </a:lnSpc>
              <a:spcBef>
                <a:spcPts val="100"/>
              </a:spcBef>
            </a:pPr>
            <a:r>
              <a:rPr dirty="0" spc="285">
                <a:solidFill>
                  <a:srgbClr val="292E3A"/>
                </a:solidFill>
              </a:rPr>
              <a:t>Working</a:t>
            </a:r>
            <a:r>
              <a:rPr dirty="0" spc="750">
                <a:solidFill>
                  <a:srgbClr val="292E3A"/>
                </a:solidFill>
              </a:rPr>
              <a:t> </a:t>
            </a:r>
            <a:r>
              <a:rPr dirty="0" spc="290">
                <a:solidFill>
                  <a:srgbClr val="BECFE1"/>
                </a:solidFill>
              </a:rPr>
              <a:t>Prototype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7" cy="2295525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2295524"/>
              <a:ext cx="18285460" cy="7991475"/>
            </a:xfrm>
            <a:custGeom>
              <a:avLst/>
              <a:gdLst/>
              <a:ahLst/>
              <a:cxnLst/>
              <a:rect l="l" t="t" r="r" b="b"/>
              <a:pathLst>
                <a:path w="18285460" h="7991475">
                  <a:moveTo>
                    <a:pt x="18285256" y="7991475"/>
                  </a:moveTo>
                  <a:lnTo>
                    <a:pt x="0" y="7991475"/>
                  </a:lnTo>
                  <a:lnTo>
                    <a:pt x="0" y="0"/>
                  </a:lnTo>
                  <a:lnTo>
                    <a:pt x="18285256" y="0"/>
                  </a:lnTo>
                  <a:lnTo>
                    <a:pt x="18285256" y="7991475"/>
                  </a:lnTo>
                  <a:close/>
                </a:path>
              </a:pathLst>
            </a:custGeom>
            <a:solidFill>
              <a:srgbClr val="CAE7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30436" rIns="0" bIns="0" rtlCol="0" vert="horz">
            <a:spAutoFit/>
          </a:bodyPr>
          <a:lstStyle/>
          <a:p>
            <a:pPr marL="2291715">
              <a:lnSpc>
                <a:spcPct val="100000"/>
              </a:lnSpc>
              <a:spcBef>
                <a:spcPts val="100"/>
              </a:spcBef>
            </a:pPr>
            <a:r>
              <a:rPr dirty="0" spc="215">
                <a:solidFill>
                  <a:srgbClr val="FFFFFF"/>
                </a:solidFill>
              </a:rPr>
              <a:t>Tech</a:t>
            </a:r>
            <a:r>
              <a:rPr dirty="0" spc="705">
                <a:solidFill>
                  <a:srgbClr val="FFFFFF"/>
                </a:solidFill>
              </a:rPr>
              <a:t> </a:t>
            </a:r>
            <a:r>
              <a:rPr dirty="0" spc="250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421046" y="2622103"/>
            <a:ext cx="7169784" cy="72459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b="1">
                <a:solidFill>
                  <a:srgbClr val="153769"/>
                </a:solidFill>
                <a:latin typeface="Georgia"/>
                <a:cs typeface="Georgia"/>
              </a:rPr>
              <a:t>IBM</a:t>
            </a:r>
            <a:r>
              <a:rPr dirty="0" sz="2900" spc="245" b="1">
                <a:solidFill>
                  <a:srgbClr val="153769"/>
                </a:solidFill>
                <a:latin typeface="Georgia"/>
                <a:cs typeface="Georgia"/>
              </a:rPr>
              <a:t> </a:t>
            </a:r>
            <a:r>
              <a:rPr dirty="0" sz="2900" spc="65" b="1">
                <a:solidFill>
                  <a:srgbClr val="153769"/>
                </a:solidFill>
                <a:latin typeface="Georgia"/>
                <a:cs typeface="Georgia"/>
              </a:rPr>
              <a:t>Watsonx</a:t>
            </a:r>
            <a:r>
              <a:rPr dirty="0" sz="2900" spc="245" b="1">
                <a:solidFill>
                  <a:srgbClr val="153769"/>
                </a:solidFill>
                <a:latin typeface="Georgia"/>
                <a:cs typeface="Georgia"/>
              </a:rPr>
              <a:t> </a:t>
            </a:r>
            <a:r>
              <a:rPr dirty="0" sz="2900" spc="55" b="1">
                <a:solidFill>
                  <a:srgbClr val="153769"/>
                </a:solidFill>
                <a:latin typeface="Georgia"/>
                <a:cs typeface="Georgia"/>
              </a:rPr>
              <a:t>Assistant</a:t>
            </a:r>
            <a:endParaRPr sz="2900">
              <a:latin typeface="Georgia"/>
              <a:cs typeface="Georgia"/>
            </a:endParaRPr>
          </a:p>
          <a:p>
            <a:pPr marL="12700" marR="25400">
              <a:lnSpc>
                <a:spcPts val="2850"/>
              </a:lnSpc>
              <a:spcBef>
                <a:spcPts val="140"/>
              </a:spcBef>
            </a:pP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Used</a:t>
            </a:r>
            <a:r>
              <a:rPr dirty="0" sz="2400" spc="23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to</a:t>
            </a:r>
            <a:r>
              <a:rPr dirty="0" sz="2400" spc="23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build</a:t>
            </a:r>
            <a:r>
              <a:rPr dirty="0" sz="2400" spc="23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r>
              <a:rPr dirty="0" sz="2400" spc="23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45">
                <a:solidFill>
                  <a:srgbClr val="231F20"/>
                </a:solidFill>
                <a:latin typeface="Georgia"/>
                <a:cs typeface="Georgia"/>
              </a:rPr>
              <a:t>powerful,</a:t>
            </a:r>
            <a:r>
              <a:rPr dirty="0" sz="2400" spc="23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55">
                <a:solidFill>
                  <a:srgbClr val="231F20"/>
                </a:solidFill>
                <a:latin typeface="Georgia"/>
                <a:cs typeface="Georgia"/>
              </a:rPr>
              <a:t>data-</a:t>
            </a:r>
            <a:r>
              <a:rPr dirty="0" sz="2400" spc="40">
                <a:solidFill>
                  <a:srgbClr val="231F20"/>
                </a:solidFill>
                <a:latin typeface="Georgia"/>
                <a:cs typeface="Georgia"/>
              </a:rPr>
              <a:t>driven </a:t>
            </a:r>
            <a:r>
              <a:rPr dirty="0" sz="2400" spc="50">
                <a:solidFill>
                  <a:srgbClr val="231F20"/>
                </a:solidFill>
                <a:latin typeface="Georgia"/>
                <a:cs typeface="Georgia"/>
              </a:rPr>
              <a:t>conversational</a:t>
            </a:r>
            <a:r>
              <a:rPr dirty="0" sz="2400" spc="21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AI.</a:t>
            </a:r>
            <a:r>
              <a:rPr dirty="0" sz="2400" spc="21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The</a:t>
            </a:r>
            <a:r>
              <a:rPr dirty="0" sz="2400" spc="21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45">
                <a:solidFill>
                  <a:srgbClr val="231F20"/>
                </a:solidFill>
                <a:latin typeface="Georgia"/>
                <a:cs typeface="Georgia"/>
              </a:rPr>
              <a:t>chatbot</a:t>
            </a:r>
            <a:r>
              <a:rPr dirty="0" sz="2400" spc="21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acts</a:t>
            </a:r>
            <a:r>
              <a:rPr dirty="0" sz="2400" spc="21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as</a:t>
            </a:r>
            <a:r>
              <a:rPr dirty="0" sz="2400" spc="21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25">
                <a:solidFill>
                  <a:srgbClr val="231F20"/>
                </a:solidFill>
                <a:latin typeface="Georgia"/>
                <a:cs typeface="Georgia"/>
              </a:rPr>
              <a:t>an </a:t>
            </a:r>
            <a:r>
              <a:rPr dirty="0" sz="2400" spc="50">
                <a:solidFill>
                  <a:srgbClr val="231F20"/>
                </a:solidFill>
                <a:latin typeface="Georgia"/>
                <a:cs typeface="Georgia"/>
              </a:rPr>
              <a:t>intelligent</a:t>
            </a:r>
            <a:r>
              <a:rPr dirty="0" sz="2400" spc="16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50">
                <a:solidFill>
                  <a:srgbClr val="231F20"/>
                </a:solidFill>
                <a:latin typeface="Georgia"/>
                <a:cs typeface="Georgia"/>
              </a:rPr>
              <a:t>digital</a:t>
            </a:r>
            <a:r>
              <a:rPr dirty="0" sz="2400" spc="16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50">
                <a:solidFill>
                  <a:srgbClr val="231F20"/>
                </a:solidFill>
                <a:latin typeface="Georgia"/>
                <a:cs typeface="Georgia"/>
              </a:rPr>
              <a:t>assistant,</a:t>
            </a:r>
            <a:r>
              <a:rPr dirty="0" sz="2400" spc="16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45">
                <a:solidFill>
                  <a:srgbClr val="231F20"/>
                </a:solidFill>
                <a:latin typeface="Georgia"/>
                <a:cs typeface="Georgia"/>
              </a:rPr>
              <a:t>capable</a:t>
            </a:r>
            <a:r>
              <a:rPr dirty="0" sz="2400" spc="16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of</a:t>
            </a:r>
            <a:r>
              <a:rPr dirty="0" sz="2400" spc="16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40">
                <a:solidFill>
                  <a:srgbClr val="231F20"/>
                </a:solidFill>
                <a:latin typeface="Georgia"/>
                <a:cs typeface="Georgia"/>
              </a:rPr>
              <a:t>performing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live</a:t>
            </a:r>
            <a:r>
              <a:rPr dirty="0" sz="2400" spc="21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45">
                <a:solidFill>
                  <a:srgbClr val="231F20"/>
                </a:solidFill>
                <a:latin typeface="Georgia"/>
                <a:cs typeface="Georgia"/>
              </a:rPr>
              <a:t>queries</a:t>
            </a:r>
            <a:r>
              <a:rPr dirty="0" sz="2400" spc="21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45">
                <a:solidFill>
                  <a:srgbClr val="231F20"/>
                </a:solidFill>
                <a:latin typeface="Georgia"/>
                <a:cs typeface="Georgia"/>
              </a:rPr>
              <a:t>against</a:t>
            </a:r>
            <a:r>
              <a:rPr dirty="0" sz="2400" spc="21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our</a:t>
            </a:r>
            <a:r>
              <a:rPr dirty="0" sz="2400" spc="21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Db2</a:t>
            </a:r>
            <a:r>
              <a:rPr dirty="0" sz="2400" spc="21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45">
                <a:solidFill>
                  <a:srgbClr val="231F20"/>
                </a:solidFill>
                <a:latin typeface="Georgia"/>
                <a:cs typeface="Georgia"/>
              </a:rPr>
              <a:t>database</a:t>
            </a:r>
            <a:r>
              <a:rPr dirty="0" sz="2400" spc="21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to</a:t>
            </a:r>
            <a:r>
              <a:rPr dirty="0" sz="2400" spc="21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35">
                <a:solidFill>
                  <a:srgbClr val="231F20"/>
                </a:solidFill>
                <a:latin typeface="Georgia"/>
                <a:cs typeface="Georgia"/>
              </a:rPr>
              <a:t>provide </a:t>
            </a:r>
            <a:r>
              <a:rPr dirty="0" sz="2400" spc="50">
                <a:solidFill>
                  <a:srgbClr val="231F20"/>
                </a:solidFill>
                <a:latin typeface="Georgia"/>
                <a:cs typeface="Georgia"/>
              </a:rPr>
              <a:t>instant</a:t>
            </a:r>
            <a:r>
              <a:rPr dirty="0" sz="2400" spc="15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40">
                <a:solidFill>
                  <a:srgbClr val="231F20"/>
                </a:solidFill>
                <a:latin typeface="Georgia"/>
                <a:cs typeface="Georgia"/>
              </a:rPr>
              <a:t>insights.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Georgia"/>
              <a:cs typeface="Georgia"/>
            </a:endParaRPr>
          </a:p>
          <a:p>
            <a:pPr marL="12700" marR="228600">
              <a:lnSpc>
                <a:spcPct val="112700"/>
              </a:lnSpc>
            </a:pPr>
            <a:r>
              <a:rPr dirty="0" sz="2900" b="1">
                <a:solidFill>
                  <a:srgbClr val="153769"/>
                </a:solidFill>
                <a:latin typeface="Georgia"/>
                <a:cs typeface="Georgia"/>
              </a:rPr>
              <a:t>IBM</a:t>
            </a:r>
            <a:r>
              <a:rPr dirty="0" sz="2900" spc="215" b="1">
                <a:solidFill>
                  <a:srgbClr val="153769"/>
                </a:solidFill>
                <a:latin typeface="Georgia"/>
                <a:cs typeface="Georgia"/>
              </a:rPr>
              <a:t> </a:t>
            </a:r>
            <a:r>
              <a:rPr dirty="0" sz="2900" spc="50" b="1">
                <a:solidFill>
                  <a:srgbClr val="153769"/>
                </a:solidFill>
                <a:latin typeface="Georgia"/>
                <a:cs typeface="Georgia"/>
              </a:rPr>
              <a:t>Cloud</a:t>
            </a:r>
            <a:r>
              <a:rPr dirty="0" sz="2900" spc="220" b="1">
                <a:solidFill>
                  <a:srgbClr val="153769"/>
                </a:solidFill>
                <a:latin typeface="Georgia"/>
                <a:cs typeface="Georgia"/>
              </a:rPr>
              <a:t> </a:t>
            </a:r>
            <a:r>
              <a:rPr dirty="0" sz="2900" spc="60" b="1">
                <a:solidFill>
                  <a:srgbClr val="153769"/>
                </a:solidFill>
                <a:latin typeface="Georgia"/>
                <a:cs typeface="Georgia"/>
              </a:rPr>
              <a:t>Object</a:t>
            </a:r>
            <a:r>
              <a:rPr dirty="0" sz="2900" spc="220" b="1">
                <a:solidFill>
                  <a:srgbClr val="153769"/>
                </a:solidFill>
                <a:latin typeface="Georgia"/>
                <a:cs typeface="Georgia"/>
              </a:rPr>
              <a:t> </a:t>
            </a:r>
            <a:r>
              <a:rPr dirty="0" sz="2900" spc="45" b="1">
                <a:solidFill>
                  <a:srgbClr val="153769"/>
                </a:solidFill>
                <a:latin typeface="Georgia"/>
                <a:cs typeface="Georgia"/>
              </a:rPr>
              <a:t>Storage </a:t>
            </a:r>
            <a:r>
              <a:rPr dirty="0" sz="2400" spc="50">
                <a:solidFill>
                  <a:srgbClr val="231F20"/>
                </a:solidFill>
                <a:latin typeface="Georgia"/>
                <a:cs typeface="Georgia"/>
              </a:rPr>
              <a:t>Implemented</a:t>
            </a:r>
            <a:r>
              <a:rPr dirty="0" sz="2400" spc="23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as</a:t>
            </a:r>
            <a:r>
              <a:rPr dirty="0" sz="2400" spc="23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the</a:t>
            </a:r>
            <a:r>
              <a:rPr dirty="0" sz="2400" spc="23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secure</a:t>
            </a:r>
            <a:r>
              <a:rPr dirty="0" sz="2400" spc="23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and</a:t>
            </a:r>
            <a:r>
              <a:rPr dirty="0" sz="2400" spc="23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45">
                <a:solidFill>
                  <a:srgbClr val="231F20"/>
                </a:solidFill>
                <a:latin typeface="Georgia"/>
                <a:cs typeface="Georgia"/>
              </a:rPr>
              <a:t>scalable</a:t>
            </a:r>
            <a:r>
              <a:rPr dirty="0" sz="2400" spc="23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40">
                <a:solidFill>
                  <a:srgbClr val="231F20"/>
                </a:solidFill>
                <a:latin typeface="Georgia"/>
                <a:cs typeface="Georgia"/>
              </a:rPr>
              <a:t>solution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for</a:t>
            </a:r>
            <a:r>
              <a:rPr dirty="0" sz="2400" spc="24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50">
                <a:solidFill>
                  <a:srgbClr val="231F20"/>
                </a:solidFill>
                <a:latin typeface="Georgia"/>
                <a:cs typeface="Georgia"/>
              </a:rPr>
              <a:t>handling</a:t>
            </a:r>
            <a:r>
              <a:rPr dirty="0" sz="2400" spc="25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large,</a:t>
            </a:r>
            <a:r>
              <a:rPr dirty="0" sz="2400" spc="25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55">
                <a:solidFill>
                  <a:srgbClr val="231F20"/>
                </a:solidFill>
                <a:latin typeface="Georgia"/>
                <a:cs typeface="Georgia"/>
              </a:rPr>
              <a:t>unstructured</a:t>
            </a:r>
            <a:r>
              <a:rPr dirty="0" sz="2400" spc="24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data</a:t>
            </a:r>
            <a:r>
              <a:rPr dirty="0" sz="2400" spc="25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>
                <a:solidFill>
                  <a:srgbClr val="231F20"/>
                </a:solidFill>
                <a:latin typeface="Georgia"/>
                <a:cs typeface="Georgia"/>
              </a:rPr>
              <a:t>files, </a:t>
            </a:r>
            <a:r>
              <a:rPr dirty="0" sz="2400" spc="50">
                <a:solidFill>
                  <a:srgbClr val="231F20"/>
                </a:solidFill>
                <a:latin typeface="Georgia"/>
                <a:cs typeface="Georgia"/>
              </a:rPr>
              <a:t>specifically</a:t>
            </a:r>
            <a:r>
              <a:rPr dirty="0" sz="2400" spc="18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the</a:t>
            </a:r>
            <a:r>
              <a:rPr dirty="0" sz="2400" spc="18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50">
                <a:solidFill>
                  <a:srgbClr val="231F20"/>
                </a:solidFill>
                <a:latin typeface="Georgia"/>
                <a:cs typeface="Georgia"/>
              </a:rPr>
              <a:t>sensitive</a:t>
            </a:r>
            <a:r>
              <a:rPr dirty="0" sz="2400" spc="18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50">
                <a:solidFill>
                  <a:srgbClr val="231F20"/>
                </a:solidFill>
                <a:latin typeface="Georgia"/>
                <a:cs typeface="Georgia"/>
              </a:rPr>
              <a:t>patient</a:t>
            </a:r>
            <a:r>
              <a:rPr dirty="0" sz="2400" spc="18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MRI</a:t>
            </a:r>
            <a:r>
              <a:rPr dirty="0" sz="2400" spc="19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35">
                <a:solidFill>
                  <a:srgbClr val="231F20"/>
                </a:solidFill>
                <a:latin typeface="Georgia"/>
                <a:cs typeface="Georgia"/>
              </a:rPr>
              <a:t>images, </a:t>
            </a:r>
            <a:r>
              <a:rPr dirty="0" sz="2400" spc="50">
                <a:solidFill>
                  <a:srgbClr val="231F20"/>
                </a:solidFill>
                <a:latin typeface="Georgia"/>
                <a:cs typeface="Georgia"/>
              </a:rPr>
              <a:t>following</a:t>
            </a:r>
            <a:r>
              <a:rPr dirty="0" sz="2400" spc="19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50">
                <a:solidFill>
                  <a:srgbClr val="231F20"/>
                </a:solidFill>
                <a:latin typeface="Georgia"/>
                <a:cs typeface="Georgia"/>
              </a:rPr>
              <a:t>industry</a:t>
            </a:r>
            <a:r>
              <a:rPr dirty="0" sz="2400" spc="19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best</a:t>
            </a:r>
            <a:r>
              <a:rPr dirty="0" sz="2400" spc="19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40">
                <a:solidFill>
                  <a:srgbClr val="231F20"/>
                </a:solidFill>
                <a:latin typeface="Georgia"/>
                <a:cs typeface="Georgia"/>
              </a:rPr>
              <a:t>practices.</a:t>
            </a:r>
            <a:endParaRPr sz="2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695"/>
              </a:spcBef>
            </a:pPr>
            <a:r>
              <a:rPr dirty="0" sz="2900" b="1">
                <a:solidFill>
                  <a:srgbClr val="153769"/>
                </a:solidFill>
                <a:latin typeface="Georgia"/>
                <a:cs typeface="Georgia"/>
              </a:rPr>
              <a:t>IBM</a:t>
            </a:r>
            <a:r>
              <a:rPr dirty="0" sz="2900" spc="160" b="1">
                <a:solidFill>
                  <a:srgbClr val="153769"/>
                </a:solidFill>
                <a:latin typeface="Georgia"/>
                <a:cs typeface="Georgia"/>
              </a:rPr>
              <a:t> </a:t>
            </a:r>
            <a:r>
              <a:rPr dirty="0" sz="2900" spc="50" b="1">
                <a:solidFill>
                  <a:srgbClr val="153769"/>
                </a:solidFill>
                <a:latin typeface="Georgia"/>
                <a:cs typeface="Georgia"/>
              </a:rPr>
              <a:t>Db2</a:t>
            </a:r>
            <a:r>
              <a:rPr dirty="0" sz="2900" spc="160" b="1">
                <a:solidFill>
                  <a:srgbClr val="153769"/>
                </a:solidFill>
                <a:latin typeface="Georgia"/>
                <a:cs typeface="Georgia"/>
              </a:rPr>
              <a:t> </a:t>
            </a:r>
            <a:r>
              <a:rPr dirty="0" sz="2900" b="1">
                <a:solidFill>
                  <a:srgbClr val="153769"/>
                </a:solidFill>
                <a:latin typeface="Georgia"/>
                <a:cs typeface="Georgia"/>
              </a:rPr>
              <a:t>on</a:t>
            </a:r>
            <a:r>
              <a:rPr dirty="0" sz="2900" spc="165" b="1">
                <a:solidFill>
                  <a:srgbClr val="153769"/>
                </a:solidFill>
                <a:latin typeface="Georgia"/>
                <a:cs typeface="Georgia"/>
              </a:rPr>
              <a:t> </a:t>
            </a:r>
            <a:r>
              <a:rPr dirty="0" sz="2900" spc="-10" b="1">
                <a:solidFill>
                  <a:srgbClr val="153769"/>
                </a:solidFill>
                <a:latin typeface="Georgia"/>
                <a:cs typeface="Georgia"/>
              </a:rPr>
              <a:t>Cloud</a:t>
            </a:r>
            <a:endParaRPr sz="2900">
              <a:latin typeface="Georgia"/>
              <a:cs typeface="Georgia"/>
            </a:endParaRPr>
          </a:p>
          <a:p>
            <a:pPr marL="12700" marR="5080">
              <a:lnSpc>
                <a:spcPts val="3300"/>
              </a:lnSpc>
            </a:pP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The</a:t>
            </a:r>
            <a:r>
              <a:rPr dirty="0" sz="2400" spc="19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core</a:t>
            </a:r>
            <a:r>
              <a:rPr dirty="0" sz="2400" spc="19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of</a:t>
            </a:r>
            <a:r>
              <a:rPr dirty="0" sz="2400" spc="19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our</a:t>
            </a:r>
            <a:r>
              <a:rPr dirty="0" sz="2400" spc="19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data</a:t>
            </a:r>
            <a:r>
              <a:rPr dirty="0" sz="2400" spc="19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architecture.</a:t>
            </a:r>
            <a:r>
              <a:rPr dirty="0" sz="2400" spc="19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Used</a:t>
            </a:r>
            <a:r>
              <a:rPr dirty="0" sz="2400" spc="19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as</a:t>
            </a:r>
            <a:r>
              <a:rPr dirty="0" sz="2400" spc="19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r>
              <a:rPr dirty="0" sz="2400" spc="19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>
                <a:solidFill>
                  <a:srgbClr val="231F20"/>
                </a:solidFill>
                <a:latin typeface="Georgia"/>
                <a:cs typeface="Georgia"/>
              </a:rPr>
              <a:t>secure,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scalable,</a:t>
            </a:r>
            <a:r>
              <a:rPr dirty="0" sz="2400" spc="37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and</a:t>
            </a:r>
            <a:r>
              <a:rPr dirty="0" sz="2400" spc="37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enterprise-grade</a:t>
            </a:r>
            <a:r>
              <a:rPr dirty="0" sz="2400" spc="37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database</a:t>
            </a:r>
            <a:r>
              <a:rPr dirty="0" sz="2400" spc="37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25">
                <a:solidFill>
                  <a:srgbClr val="231F20"/>
                </a:solidFill>
                <a:latin typeface="Georgia"/>
                <a:cs typeface="Georgia"/>
              </a:rPr>
              <a:t>for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managing</a:t>
            </a:r>
            <a:r>
              <a:rPr dirty="0" sz="2400" spc="29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all</a:t>
            </a:r>
            <a:r>
              <a:rPr dirty="0" sz="2400" spc="29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structured</a:t>
            </a:r>
            <a:r>
              <a:rPr dirty="0" sz="2400" spc="29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patient</a:t>
            </a:r>
            <a:r>
              <a:rPr dirty="0" sz="2400" spc="29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records</a:t>
            </a:r>
            <a:r>
              <a:rPr dirty="0" sz="2400" spc="29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and</a:t>
            </a:r>
            <a:r>
              <a:rPr dirty="0" sz="2400" spc="29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25">
                <a:solidFill>
                  <a:srgbClr val="231F20"/>
                </a:solidFill>
                <a:latin typeface="Georgia"/>
                <a:cs typeface="Georgia"/>
              </a:rPr>
              <a:t>the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results</a:t>
            </a:r>
            <a:r>
              <a:rPr dirty="0" sz="2400" spc="17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of</a:t>
            </a:r>
            <a:r>
              <a:rPr dirty="0" sz="2400" spc="17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our</a:t>
            </a:r>
            <a:r>
              <a:rPr dirty="0" sz="2400" spc="17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AI</a:t>
            </a:r>
            <a:r>
              <a:rPr dirty="0" sz="2400" spc="17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>
                <a:solidFill>
                  <a:srgbClr val="231F20"/>
                </a:solidFill>
                <a:latin typeface="Georgia"/>
                <a:cs typeface="Georgia"/>
              </a:rPr>
              <a:t>analysis.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260929" y="2632264"/>
            <a:ext cx="7790180" cy="6741159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2900" b="1">
                <a:solidFill>
                  <a:srgbClr val="153769"/>
                </a:solidFill>
                <a:latin typeface="Georgia"/>
                <a:cs typeface="Georgia"/>
              </a:rPr>
              <a:t>TensorFlow</a:t>
            </a:r>
            <a:r>
              <a:rPr dirty="0" sz="2900" spc="-70" b="1">
                <a:solidFill>
                  <a:srgbClr val="153769"/>
                </a:solidFill>
                <a:latin typeface="Georgia"/>
                <a:cs typeface="Georgia"/>
              </a:rPr>
              <a:t> </a:t>
            </a:r>
            <a:r>
              <a:rPr dirty="0" sz="2900" b="1">
                <a:solidFill>
                  <a:srgbClr val="153769"/>
                </a:solidFill>
                <a:latin typeface="Georgia"/>
                <a:cs typeface="Georgia"/>
              </a:rPr>
              <a:t>&amp;</a:t>
            </a:r>
            <a:r>
              <a:rPr dirty="0" sz="2900" spc="-70" b="1">
                <a:solidFill>
                  <a:srgbClr val="153769"/>
                </a:solidFill>
                <a:latin typeface="Georgia"/>
                <a:cs typeface="Georgia"/>
              </a:rPr>
              <a:t> </a:t>
            </a:r>
            <a:r>
              <a:rPr dirty="0" sz="2900" spc="-10" b="1">
                <a:solidFill>
                  <a:srgbClr val="153769"/>
                </a:solidFill>
                <a:latin typeface="Georgia"/>
                <a:cs typeface="Georgia"/>
              </a:rPr>
              <a:t>Keras</a:t>
            </a:r>
            <a:endParaRPr sz="2900">
              <a:latin typeface="Georgia"/>
              <a:cs typeface="Georgia"/>
            </a:endParaRPr>
          </a:p>
          <a:p>
            <a:pPr marL="12700" marR="33020">
              <a:lnSpc>
                <a:spcPts val="3300"/>
              </a:lnSpc>
              <a:spcBef>
                <a:spcPts val="5"/>
              </a:spcBef>
            </a:pP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These</a:t>
            </a:r>
            <a:r>
              <a:rPr dirty="0" sz="2400" spc="-3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deep</a:t>
            </a:r>
            <a:r>
              <a:rPr dirty="0" sz="2400" spc="-3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learning</a:t>
            </a:r>
            <a:r>
              <a:rPr dirty="0" sz="2400" spc="-3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libraries</a:t>
            </a:r>
            <a:r>
              <a:rPr dirty="0" sz="2400" spc="-3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were</a:t>
            </a:r>
            <a:r>
              <a:rPr dirty="0" sz="2400" spc="-3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used</a:t>
            </a:r>
            <a:r>
              <a:rPr dirty="0" sz="2400" spc="-3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to</a:t>
            </a:r>
            <a:r>
              <a:rPr dirty="0" sz="2400" spc="-3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build</a:t>
            </a:r>
            <a:r>
              <a:rPr dirty="0" sz="2400" spc="-3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and</a:t>
            </a:r>
            <a:r>
              <a:rPr dirty="0" sz="2400" spc="-3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>
                <a:solidFill>
                  <a:srgbClr val="231F20"/>
                </a:solidFill>
                <a:latin typeface="Georgia"/>
                <a:cs typeface="Georgia"/>
              </a:rPr>
              <a:t>train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our</a:t>
            </a:r>
            <a:r>
              <a:rPr dirty="0" sz="2400" spc="-4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core</a:t>
            </a:r>
            <a:r>
              <a:rPr dirty="0" sz="2400" spc="-3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AI:</a:t>
            </a:r>
            <a:r>
              <a:rPr dirty="0" sz="2400" spc="-3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r>
              <a:rPr dirty="0" sz="2400" spc="-4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Convolutional</a:t>
            </a:r>
            <a:r>
              <a:rPr dirty="0" sz="2400" spc="-3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Neural</a:t>
            </a:r>
            <a:r>
              <a:rPr dirty="0" sz="2400" spc="-3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Network</a:t>
            </a:r>
            <a:r>
              <a:rPr dirty="0" sz="2400" spc="-4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(CNN)</a:t>
            </a:r>
            <a:r>
              <a:rPr dirty="0" sz="2400" spc="-3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25">
                <a:solidFill>
                  <a:srgbClr val="231F20"/>
                </a:solidFill>
                <a:latin typeface="Georgia"/>
                <a:cs typeface="Georgia"/>
              </a:rPr>
              <a:t>for</a:t>
            </a:r>
            <a:endParaRPr sz="2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the</a:t>
            </a:r>
            <a:r>
              <a:rPr dirty="0" sz="2400" spc="-3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accurate</a:t>
            </a:r>
            <a:r>
              <a:rPr dirty="0" sz="2400" spc="-2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classification</a:t>
            </a:r>
            <a:r>
              <a:rPr dirty="0" sz="2400" spc="-2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of</a:t>
            </a:r>
            <a:r>
              <a:rPr dirty="0" sz="2400" spc="-3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heart</a:t>
            </a:r>
            <a:r>
              <a:rPr dirty="0" sz="2400" spc="-2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MRI</a:t>
            </a:r>
            <a:r>
              <a:rPr dirty="0" sz="2400" spc="-2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>
                <a:solidFill>
                  <a:srgbClr val="231F20"/>
                </a:solidFill>
                <a:latin typeface="Georgia"/>
                <a:cs typeface="Georgia"/>
              </a:rPr>
              <a:t>scans.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2900" spc="70" b="1">
                <a:solidFill>
                  <a:srgbClr val="153769"/>
                </a:solidFill>
                <a:latin typeface="Georgia"/>
                <a:cs typeface="Georgia"/>
              </a:rPr>
              <a:t>Explainable</a:t>
            </a:r>
            <a:r>
              <a:rPr dirty="0" sz="2900" spc="215" b="1">
                <a:solidFill>
                  <a:srgbClr val="153769"/>
                </a:solidFill>
                <a:latin typeface="Georgia"/>
                <a:cs typeface="Georgia"/>
              </a:rPr>
              <a:t> </a:t>
            </a:r>
            <a:r>
              <a:rPr dirty="0" sz="2900" b="1">
                <a:solidFill>
                  <a:srgbClr val="153769"/>
                </a:solidFill>
                <a:latin typeface="Georgia"/>
                <a:cs typeface="Georgia"/>
              </a:rPr>
              <a:t>AI</a:t>
            </a:r>
            <a:r>
              <a:rPr dirty="0" sz="2900" spc="215" b="1">
                <a:solidFill>
                  <a:srgbClr val="153769"/>
                </a:solidFill>
                <a:latin typeface="Georgia"/>
                <a:cs typeface="Georgia"/>
              </a:rPr>
              <a:t> </a:t>
            </a:r>
            <a:r>
              <a:rPr dirty="0" sz="2900" spc="75" b="1">
                <a:solidFill>
                  <a:srgbClr val="153769"/>
                </a:solidFill>
                <a:latin typeface="Georgia"/>
                <a:cs typeface="Georgia"/>
              </a:rPr>
              <a:t>(tf-</a:t>
            </a:r>
            <a:r>
              <a:rPr dirty="0" sz="2900" spc="55" b="1">
                <a:solidFill>
                  <a:srgbClr val="153769"/>
                </a:solidFill>
                <a:latin typeface="Georgia"/>
                <a:cs typeface="Georgia"/>
              </a:rPr>
              <a:t>explain)</a:t>
            </a:r>
            <a:endParaRPr sz="2900">
              <a:latin typeface="Georgia"/>
              <a:cs typeface="Georgia"/>
            </a:endParaRPr>
          </a:p>
          <a:p>
            <a:pPr marL="12700" marR="5080">
              <a:lnSpc>
                <a:spcPts val="3300"/>
              </a:lnSpc>
              <a:spcBef>
                <a:spcPts val="5"/>
              </a:spcBef>
            </a:pP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This</a:t>
            </a:r>
            <a:r>
              <a:rPr dirty="0" sz="2400" spc="204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50">
                <a:solidFill>
                  <a:srgbClr val="231F20"/>
                </a:solidFill>
                <a:latin typeface="Georgia"/>
                <a:cs typeface="Georgia"/>
              </a:rPr>
              <a:t>library</a:t>
            </a:r>
            <a:r>
              <a:rPr dirty="0" sz="2400" spc="204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was</a:t>
            </a:r>
            <a:r>
              <a:rPr dirty="0" sz="2400" spc="21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55">
                <a:solidFill>
                  <a:srgbClr val="231F20"/>
                </a:solidFill>
                <a:latin typeface="Georgia"/>
                <a:cs typeface="Georgia"/>
              </a:rPr>
              <a:t>integrated</a:t>
            </a:r>
            <a:r>
              <a:rPr dirty="0" sz="2400" spc="204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to</a:t>
            </a:r>
            <a:r>
              <a:rPr dirty="0" sz="2400" spc="21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50">
                <a:solidFill>
                  <a:srgbClr val="231F20"/>
                </a:solidFill>
                <a:latin typeface="Georgia"/>
                <a:cs typeface="Georgia"/>
              </a:rPr>
              <a:t>build</a:t>
            </a:r>
            <a:r>
              <a:rPr dirty="0" sz="2400" spc="204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50">
                <a:solidFill>
                  <a:srgbClr val="231F20"/>
                </a:solidFill>
                <a:latin typeface="Georgia"/>
                <a:cs typeface="Georgia"/>
              </a:rPr>
              <a:t>trust</a:t>
            </a:r>
            <a:r>
              <a:rPr dirty="0" sz="2400" spc="204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in</a:t>
            </a:r>
            <a:r>
              <a:rPr dirty="0" sz="2400" spc="21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our</a:t>
            </a:r>
            <a:r>
              <a:rPr dirty="0" sz="2400" spc="204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AI.</a:t>
            </a:r>
            <a:r>
              <a:rPr dirty="0" sz="2400" spc="21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25">
                <a:solidFill>
                  <a:srgbClr val="231F20"/>
                </a:solidFill>
                <a:latin typeface="Georgia"/>
                <a:cs typeface="Georgia"/>
              </a:rPr>
              <a:t>It </a:t>
            </a:r>
            <a:r>
              <a:rPr dirty="0" sz="2400" spc="50">
                <a:solidFill>
                  <a:srgbClr val="231F20"/>
                </a:solidFill>
                <a:latin typeface="Georgia"/>
                <a:cs typeface="Georgia"/>
              </a:rPr>
              <a:t>generates</a:t>
            </a:r>
            <a:r>
              <a:rPr dirty="0" sz="2400" spc="20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60">
                <a:solidFill>
                  <a:srgbClr val="231F20"/>
                </a:solidFill>
                <a:latin typeface="Georgia"/>
                <a:cs typeface="Georgia"/>
              </a:rPr>
              <a:t>Grad-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CAM</a:t>
            </a:r>
            <a:r>
              <a:rPr dirty="0" sz="2400" spc="204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50">
                <a:solidFill>
                  <a:srgbClr val="231F20"/>
                </a:solidFill>
                <a:latin typeface="Georgia"/>
                <a:cs typeface="Georgia"/>
              </a:rPr>
              <a:t>heatmaps</a:t>
            </a:r>
            <a:r>
              <a:rPr dirty="0" sz="2400" spc="204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to</a:t>
            </a:r>
            <a:r>
              <a:rPr dirty="0" sz="2400" spc="20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55">
                <a:solidFill>
                  <a:srgbClr val="231F20"/>
                </a:solidFill>
                <a:latin typeface="Georgia"/>
                <a:cs typeface="Georgia"/>
              </a:rPr>
              <a:t>visually</a:t>
            </a:r>
            <a:r>
              <a:rPr dirty="0" sz="2400" spc="204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show</a:t>
            </a:r>
            <a:r>
              <a:rPr dirty="0" sz="2400" spc="204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>
                <a:solidFill>
                  <a:srgbClr val="231F20"/>
                </a:solidFill>
                <a:latin typeface="Georgia"/>
                <a:cs typeface="Georgia"/>
              </a:rPr>
              <a:t>which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parts</a:t>
            </a:r>
            <a:r>
              <a:rPr dirty="0" sz="2400" spc="19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of</a:t>
            </a:r>
            <a:r>
              <a:rPr dirty="0" sz="2400" spc="20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an</a:t>
            </a:r>
            <a:r>
              <a:rPr dirty="0" sz="2400" spc="20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MRI</a:t>
            </a:r>
            <a:r>
              <a:rPr dirty="0" sz="2400" spc="19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60">
                <a:solidFill>
                  <a:srgbClr val="231F20"/>
                </a:solidFill>
                <a:latin typeface="Georgia"/>
                <a:cs typeface="Georgia"/>
              </a:rPr>
              <a:t>influenced</a:t>
            </a:r>
            <a:r>
              <a:rPr dirty="0" sz="2400" spc="20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r>
              <a:rPr dirty="0" sz="2400" spc="20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50">
                <a:solidFill>
                  <a:srgbClr val="231F20"/>
                </a:solidFill>
                <a:latin typeface="Georgia"/>
                <a:cs typeface="Georgia"/>
              </a:rPr>
              <a:t>"Sick"</a:t>
            </a:r>
            <a:r>
              <a:rPr dirty="0" sz="2400" spc="19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55">
                <a:solidFill>
                  <a:srgbClr val="231F20"/>
                </a:solidFill>
                <a:latin typeface="Georgia"/>
                <a:cs typeface="Georgia"/>
              </a:rPr>
              <a:t>diagnosis,</a:t>
            </a:r>
            <a:r>
              <a:rPr dirty="0" sz="2400" spc="20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40">
                <a:solidFill>
                  <a:srgbClr val="231F20"/>
                </a:solidFill>
                <a:latin typeface="Georgia"/>
                <a:cs typeface="Georgia"/>
              </a:rPr>
              <a:t>making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our</a:t>
            </a:r>
            <a:r>
              <a:rPr dirty="0" sz="2400" spc="19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50">
                <a:solidFill>
                  <a:srgbClr val="231F20"/>
                </a:solidFill>
                <a:latin typeface="Georgia"/>
                <a:cs typeface="Georgia"/>
              </a:rPr>
              <a:t>model's</a:t>
            </a:r>
            <a:r>
              <a:rPr dirty="0" sz="2400" spc="19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55">
                <a:solidFill>
                  <a:srgbClr val="231F20"/>
                </a:solidFill>
                <a:latin typeface="Georgia"/>
                <a:cs typeface="Georgia"/>
              </a:rPr>
              <a:t>decisions</a:t>
            </a:r>
            <a:r>
              <a:rPr dirty="0" sz="2400" spc="19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45">
                <a:solidFill>
                  <a:srgbClr val="231F20"/>
                </a:solidFill>
                <a:latin typeface="Georgia"/>
                <a:cs typeface="Georgia"/>
              </a:rPr>
              <a:t>transparent.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2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2900" b="1">
                <a:solidFill>
                  <a:srgbClr val="153769"/>
                </a:solidFill>
                <a:latin typeface="Georgia"/>
                <a:cs typeface="Georgia"/>
              </a:rPr>
              <a:t>Python</a:t>
            </a:r>
            <a:r>
              <a:rPr dirty="0" sz="2900" spc="-85" b="1">
                <a:solidFill>
                  <a:srgbClr val="153769"/>
                </a:solidFill>
                <a:latin typeface="Georgia"/>
                <a:cs typeface="Georgia"/>
              </a:rPr>
              <a:t> </a:t>
            </a:r>
            <a:r>
              <a:rPr dirty="0" sz="2900" b="1">
                <a:solidFill>
                  <a:srgbClr val="153769"/>
                </a:solidFill>
                <a:latin typeface="Georgia"/>
                <a:cs typeface="Georgia"/>
              </a:rPr>
              <a:t>&amp;</a:t>
            </a:r>
            <a:r>
              <a:rPr dirty="0" sz="2900" spc="-85" b="1">
                <a:solidFill>
                  <a:srgbClr val="153769"/>
                </a:solidFill>
                <a:latin typeface="Georgia"/>
                <a:cs typeface="Georgia"/>
              </a:rPr>
              <a:t> </a:t>
            </a:r>
            <a:r>
              <a:rPr dirty="0" sz="2900" spc="-20" b="1">
                <a:solidFill>
                  <a:srgbClr val="153769"/>
                </a:solidFill>
                <a:latin typeface="Georgia"/>
                <a:cs typeface="Georgia"/>
              </a:rPr>
              <a:t>Flask</a:t>
            </a:r>
            <a:endParaRPr sz="2900">
              <a:latin typeface="Georgia"/>
              <a:cs typeface="Georgia"/>
            </a:endParaRPr>
          </a:p>
          <a:p>
            <a:pPr marL="12700" marR="135890">
              <a:lnSpc>
                <a:spcPts val="3300"/>
              </a:lnSpc>
            </a:pP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Python</a:t>
            </a:r>
            <a:r>
              <a:rPr dirty="0" sz="2400" spc="-9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was</a:t>
            </a:r>
            <a:r>
              <a:rPr dirty="0" sz="2400" spc="-9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the</a:t>
            </a:r>
            <a:r>
              <a:rPr dirty="0" sz="2400" spc="-9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primary</a:t>
            </a:r>
            <a:r>
              <a:rPr dirty="0" sz="2400" spc="-8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>
                <a:solidFill>
                  <a:srgbClr val="231F20"/>
                </a:solidFill>
                <a:latin typeface="Georgia"/>
                <a:cs typeface="Georgia"/>
              </a:rPr>
              <a:t>programming</a:t>
            </a:r>
            <a:r>
              <a:rPr dirty="0" sz="2400" spc="-9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>
                <a:solidFill>
                  <a:srgbClr val="231F20"/>
                </a:solidFill>
                <a:latin typeface="Georgia"/>
                <a:cs typeface="Georgia"/>
              </a:rPr>
              <a:t>language,</a:t>
            </a:r>
            <a:r>
              <a:rPr dirty="0" sz="2400" spc="-9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and</a:t>
            </a:r>
            <a:r>
              <a:rPr dirty="0" sz="2400" spc="-9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25">
                <a:solidFill>
                  <a:srgbClr val="231F20"/>
                </a:solidFill>
                <a:latin typeface="Georgia"/>
                <a:cs typeface="Georgia"/>
              </a:rPr>
              <a:t>the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Flask</a:t>
            </a:r>
            <a:r>
              <a:rPr dirty="0" sz="2400" spc="-8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>
                <a:solidFill>
                  <a:srgbClr val="231F20"/>
                </a:solidFill>
                <a:latin typeface="Georgia"/>
                <a:cs typeface="Georgia"/>
              </a:rPr>
              <a:t>framework</a:t>
            </a:r>
            <a:r>
              <a:rPr dirty="0" sz="2400" spc="-8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was</a:t>
            </a:r>
            <a:r>
              <a:rPr dirty="0" sz="2400" spc="-8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used</a:t>
            </a:r>
            <a:r>
              <a:rPr dirty="0" sz="2400" spc="-8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to</a:t>
            </a:r>
            <a:r>
              <a:rPr dirty="0" sz="2400" spc="-8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build</a:t>
            </a:r>
            <a:r>
              <a:rPr dirty="0" sz="2400" spc="-8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the</a:t>
            </a:r>
            <a:r>
              <a:rPr dirty="0" sz="2400" spc="-8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robust</a:t>
            </a:r>
            <a:r>
              <a:rPr dirty="0" sz="2400" spc="-8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>
                <a:solidFill>
                  <a:srgbClr val="231F20"/>
                </a:solidFill>
                <a:latin typeface="Georgia"/>
                <a:cs typeface="Georgia"/>
              </a:rPr>
              <a:t>backend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web</a:t>
            </a:r>
            <a:r>
              <a:rPr dirty="0" sz="2400" spc="-9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server,</a:t>
            </a:r>
            <a:r>
              <a:rPr dirty="0" sz="2400" spc="-9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user</a:t>
            </a:r>
            <a:r>
              <a:rPr dirty="0" sz="2400" spc="-9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>
                <a:solidFill>
                  <a:srgbClr val="231F20"/>
                </a:solidFill>
                <a:latin typeface="Georgia"/>
                <a:cs typeface="Georgia"/>
              </a:rPr>
              <a:t>authentication</a:t>
            </a:r>
            <a:r>
              <a:rPr dirty="0" sz="2400" spc="-9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system,</a:t>
            </a:r>
            <a:r>
              <a:rPr dirty="0" sz="2400" spc="-9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and</a:t>
            </a:r>
            <a:r>
              <a:rPr dirty="0" sz="2400" spc="-9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the</a:t>
            </a:r>
            <a:r>
              <a:rPr dirty="0" sz="2400" spc="-9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>
                <a:solidFill>
                  <a:srgbClr val="231F20"/>
                </a:solidFill>
                <a:latin typeface="Georgia"/>
                <a:cs typeface="Georgia"/>
              </a:rPr>
              <a:t>complete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API</a:t>
            </a:r>
            <a:r>
              <a:rPr dirty="0" sz="2400" spc="-6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for</a:t>
            </a:r>
            <a:r>
              <a:rPr dirty="0" sz="2400" spc="-6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231F20"/>
                </a:solidFill>
                <a:latin typeface="Georgia"/>
                <a:cs typeface="Georgia"/>
              </a:rPr>
              <a:t>our</a:t>
            </a:r>
            <a:r>
              <a:rPr dirty="0" sz="2400" spc="-65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>
                <a:solidFill>
                  <a:srgbClr val="231F20"/>
                </a:solidFill>
                <a:latin typeface="Georgia"/>
                <a:cs typeface="Georgia"/>
              </a:rPr>
              <a:t>application.</a:t>
            </a:r>
            <a:endParaRPr sz="2400">
              <a:latin typeface="Georgia"/>
              <a:cs typeface="Georgi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26326" y="0"/>
            <a:ext cx="9415145" cy="8198484"/>
            <a:chOff x="626326" y="0"/>
            <a:chExt cx="9415145" cy="8198484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6326" y="2723063"/>
              <a:ext cx="396677" cy="39667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6326" y="5407907"/>
              <a:ext cx="396677" cy="39667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6326" y="7801605"/>
              <a:ext cx="396677" cy="396677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74729" y="2789482"/>
              <a:ext cx="396677" cy="396677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74729" y="4826960"/>
              <a:ext cx="396677" cy="396677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74729" y="7393602"/>
              <a:ext cx="396677" cy="396677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46559" y="0"/>
              <a:ext cx="1794787" cy="7755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090543"/>
            <a:ext cx="18289270" cy="9196705"/>
          </a:xfrm>
          <a:custGeom>
            <a:avLst/>
            <a:gdLst/>
            <a:ahLst/>
            <a:cxnLst/>
            <a:rect l="l" t="t" r="r" b="b"/>
            <a:pathLst>
              <a:path w="18289270" h="9196705">
                <a:moveTo>
                  <a:pt x="18288685" y="9196704"/>
                </a:moveTo>
                <a:lnTo>
                  <a:pt x="0" y="9196704"/>
                </a:lnTo>
                <a:lnTo>
                  <a:pt x="0" y="0"/>
                </a:lnTo>
                <a:lnTo>
                  <a:pt x="18288685" y="0"/>
                </a:lnTo>
                <a:lnTo>
                  <a:pt x="18288685" y="9196704"/>
                </a:lnTo>
                <a:close/>
              </a:path>
            </a:pathLst>
          </a:custGeom>
          <a:solidFill>
            <a:srgbClr val="CAE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995" y="1393535"/>
            <a:ext cx="5845810" cy="1092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90">
                <a:solidFill>
                  <a:srgbClr val="292E3A"/>
                </a:solidFill>
              </a:rPr>
              <a:t>WOW</a:t>
            </a:r>
            <a:r>
              <a:rPr dirty="0" spc="459">
                <a:solidFill>
                  <a:srgbClr val="292E3A"/>
                </a:solidFill>
              </a:rPr>
              <a:t> </a:t>
            </a:r>
            <a:r>
              <a:rPr dirty="0" spc="165">
                <a:solidFill>
                  <a:srgbClr val="6F8BAB"/>
                </a:solidFill>
              </a:rPr>
              <a:t>Factors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8286730" cy="6991350"/>
            <a:chOff x="0" y="0"/>
            <a:chExt cx="18286730" cy="699135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6637" cy="109417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6326" y="2920158"/>
              <a:ext cx="396677" cy="39667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0998" y="6594111"/>
              <a:ext cx="396677" cy="39667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11205" y="2920158"/>
              <a:ext cx="396677" cy="39667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11205" y="6594111"/>
              <a:ext cx="396677" cy="396677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240029" rIns="0" bIns="0" rtlCol="0" vert="horz">
            <a:spAutoFit/>
          </a:bodyPr>
          <a:lstStyle/>
          <a:p>
            <a:pPr marL="43180">
              <a:lnSpc>
                <a:spcPct val="100000"/>
              </a:lnSpc>
              <a:spcBef>
                <a:spcPts val="1889"/>
              </a:spcBef>
            </a:pPr>
            <a:r>
              <a:rPr dirty="0"/>
              <a:t>Explainable</a:t>
            </a:r>
            <a:r>
              <a:rPr dirty="0" spc="-75"/>
              <a:t> </a:t>
            </a:r>
            <a:r>
              <a:rPr dirty="0"/>
              <a:t>AI</a:t>
            </a:r>
            <a:r>
              <a:rPr dirty="0" spc="-75"/>
              <a:t> </a:t>
            </a:r>
            <a:r>
              <a:rPr dirty="0"/>
              <a:t>(XAI)</a:t>
            </a:r>
            <a:r>
              <a:rPr dirty="0" spc="-75"/>
              <a:t> </a:t>
            </a:r>
            <a:r>
              <a:rPr dirty="0"/>
              <a:t>for</a:t>
            </a:r>
            <a:r>
              <a:rPr dirty="0" spc="-75"/>
              <a:t> </a:t>
            </a:r>
            <a:r>
              <a:rPr dirty="0"/>
              <a:t>Clinical</a:t>
            </a:r>
            <a:r>
              <a:rPr dirty="0" spc="-70"/>
              <a:t> </a:t>
            </a:r>
            <a:r>
              <a:rPr dirty="0" spc="-10"/>
              <a:t>Trust</a:t>
            </a:r>
          </a:p>
          <a:p>
            <a:pPr marL="147320" marR="5080">
              <a:lnSpc>
                <a:spcPct val="114300"/>
              </a:lnSpc>
              <a:spcBef>
                <a:spcPts val="1085"/>
              </a:spcBef>
            </a:pP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This</a:t>
            </a:r>
            <a:r>
              <a:rPr dirty="0" sz="2450" spc="-6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application</a:t>
            </a:r>
            <a:r>
              <a:rPr dirty="0" sz="2450" spc="-6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doesn't</a:t>
            </a:r>
            <a:r>
              <a:rPr dirty="0" sz="2450" spc="-6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just</a:t>
            </a:r>
            <a:r>
              <a:rPr dirty="0" sz="2450" spc="-6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give</a:t>
            </a:r>
            <a:r>
              <a:rPr dirty="0" sz="2450" spc="-6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r>
              <a:rPr dirty="0" sz="2450" spc="-6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"black</a:t>
            </a:r>
            <a:r>
              <a:rPr dirty="0" sz="2450" spc="-6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spc="-20" b="0">
                <a:solidFill>
                  <a:srgbClr val="231F20"/>
                </a:solidFill>
                <a:latin typeface="Georgia"/>
                <a:cs typeface="Georgia"/>
              </a:rPr>
              <a:t>box"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diagnosis.</a:t>
            </a:r>
            <a:r>
              <a:rPr dirty="0" sz="2450" spc="-7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For</a:t>
            </a:r>
            <a:r>
              <a:rPr dirty="0" sz="2450" spc="-7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every</a:t>
            </a:r>
            <a:r>
              <a:rPr dirty="0" sz="2450" spc="-7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"Sick"</a:t>
            </a:r>
            <a:r>
              <a:rPr dirty="0" sz="2450" spc="-7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patient,</a:t>
            </a:r>
            <a:r>
              <a:rPr dirty="0" sz="2450" spc="-7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it</a:t>
            </a:r>
            <a:r>
              <a:rPr dirty="0" sz="2450" spc="-7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generates</a:t>
            </a:r>
            <a:r>
              <a:rPr dirty="0" sz="2450" spc="-7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spc="-50" b="0">
                <a:solidFill>
                  <a:srgbClr val="231F20"/>
                </a:solidFill>
                <a:latin typeface="Georgia"/>
                <a:cs typeface="Georgia"/>
              </a:rPr>
              <a:t>a </a:t>
            </a:r>
            <a:r>
              <a:rPr dirty="0" sz="2450" spc="-20" b="0">
                <a:solidFill>
                  <a:srgbClr val="231F20"/>
                </a:solidFill>
                <a:latin typeface="Georgia"/>
                <a:cs typeface="Georgia"/>
              </a:rPr>
              <a:t>Grad-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CAM</a:t>
            </a:r>
            <a:r>
              <a:rPr dirty="0" sz="2450" spc="-7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heatmap,</a:t>
            </a:r>
            <a:r>
              <a:rPr dirty="0" sz="2450" spc="-7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visually</a:t>
            </a:r>
            <a:r>
              <a:rPr dirty="0" sz="2450" spc="-7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showing</a:t>
            </a:r>
            <a:r>
              <a:rPr dirty="0" sz="2450" spc="-7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the</a:t>
            </a:r>
            <a:r>
              <a:rPr dirty="0" sz="2450" spc="-7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spc="-10" b="0">
                <a:solidFill>
                  <a:srgbClr val="231F20"/>
                </a:solidFill>
                <a:latin typeface="Georgia"/>
                <a:cs typeface="Georgia"/>
              </a:rPr>
              <a:t>radiologist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the</a:t>
            </a:r>
            <a:r>
              <a:rPr dirty="0" sz="2450" spc="-6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exact</a:t>
            </a:r>
            <a:r>
              <a:rPr dirty="0" sz="2450" spc="-5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regions</a:t>
            </a:r>
            <a:r>
              <a:rPr dirty="0" sz="2450" spc="-6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of</a:t>
            </a:r>
            <a:r>
              <a:rPr dirty="0" sz="2450" spc="-5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the</a:t>
            </a:r>
            <a:r>
              <a:rPr dirty="0" sz="2450" spc="-6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MRI</a:t>
            </a:r>
            <a:r>
              <a:rPr dirty="0" sz="2450" spc="-5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that</a:t>
            </a:r>
            <a:r>
              <a:rPr dirty="0" sz="2450" spc="-5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influenced</a:t>
            </a:r>
            <a:r>
              <a:rPr dirty="0" sz="2450" spc="-6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the</a:t>
            </a:r>
            <a:r>
              <a:rPr dirty="0" sz="2450" spc="-5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spc="-20" b="0">
                <a:solidFill>
                  <a:srgbClr val="231F20"/>
                </a:solidFill>
                <a:latin typeface="Georgia"/>
                <a:cs typeface="Georgia"/>
              </a:rPr>
              <a:t>AI's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decision.</a:t>
            </a:r>
            <a:r>
              <a:rPr dirty="0" sz="2450" spc="-6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This</a:t>
            </a:r>
            <a:r>
              <a:rPr dirty="0" sz="2450" spc="-5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builds</a:t>
            </a:r>
            <a:r>
              <a:rPr dirty="0" sz="2450" spc="-5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trust</a:t>
            </a:r>
            <a:r>
              <a:rPr dirty="0" sz="2450" spc="-6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and</a:t>
            </a:r>
            <a:r>
              <a:rPr dirty="0" sz="2450" spc="-5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makes</a:t>
            </a:r>
            <a:r>
              <a:rPr dirty="0" sz="2450" spc="-5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our</a:t>
            </a:r>
            <a:r>
              <a:rPr dirty="0" sz="2450" spc="-6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tool</a:t>
            </a:r>
            <a:r>
              <a:rPr dirty="0" sz="2450" spc="-5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r>
              <a:rPr dirty="0" sz="2450" spc="-5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spc="-20" b="0">
                <a:solidFill>
                  <a:srgbClr val="231F20"/>
                </a:solidFill>
                <a:latin typeface="Georgia"/>
                <a:cs typeface="Georgia"/>
              </a:rPr>
              <a:t>true </a:t>
            </a:r>
            <a:r>
              <a:rPr dirty="0" sz="2450" b="0">
                <a:solidFill>
                  <a:srgbClr val="231F20"/>
                </a:solidFill>
                <a:latin typeface="Georgia"/>
                <a:cs typeface="Georgia"/>
              </a:rPr>
              <a:t>clinical</a:t>
            </a:r>
            <a:r>
              <a:rPr dirty="0" sz="2450" spc="-8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50" spc="-10" b="0">
                <a:solidFill>
                  <a:srgbClr val="231F20"/>
                </a:solidFill>
                <a:latin typeface="Georgia"/>
                <a:cs typeface="Georgia"/>
              </a:rPr>
              <a:t>partner.</a:t>
            </a:r>
            <a:endParaRPr sz="24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755"/>
              </a:spcBef>
            </a:pPr>
            <a:endParaRPr sz="2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04" b="0">
                <a:latin typeface="Arial Black"/>
                <a:cs typeface="Arial Black"/>
              </a:rPr>
              <a:t>Proactive</a:t>
            </a:r>
            <a:r>
              <a:rPr dirty="0" spc="-225" b="0">
                <a:latin typeface="Arial Black"/>
                <a:cs typeface="Arial Black"/>
              </a:rPr>
              <a:t> AI </a:t>
            </a:r>
            <a:r>
              <a:rPr dirty="0" spc="-185" b="0">
                <a:latin typeface="Arial Black"/>
                <a:cs typeface="Arial Black"/>
              </a:rPr>
              <a:t>Clinical</a:t>
            </a:r>
            <a:r>
              <a:rPr dirty="0" spc="-220" b="0">
                <a:latin typeface="Arial Black"/>
                <a:cs typeface="Arial Black"/>
              </a:rPr>
              <a:t> </a:t>
            </a:r>
            <a:r>
              <a:rPr dirty="0" spc="-30" b="0">
                <a:latin typeface="Arial Black"/>
                <a:cs typeface="Arial Black"/>
              </a:rPr>
              <a:t>Analyst</a:t>
            </a:r>
          </a:p>
          <a:p>
            <a:pPr marL="12700" marR="782320">
              <a:lnSpc>
                <a:spcPct val="114599"/>
              </a:lnSpc>
              <a:spcBef>
                <a:spcPts val="940"/>
              </a:spcBef>
            </a:pPr>
            <a:r>
              <a:rPr dirty="0" sz="2400" b="0">
                <a:latin typeface="Georgia"/>
                <a:cs typeface="Georgia"/>
              </a:rPr>
              <a:t>The</a:t>
            </a:r>
            <a:r>
              <a:rPr dirty="0" sz="2400" spc="-25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system</a:t>
            </a:r>
            <a:r>
              <a:rPr dirty="0" sz="2400" spc="-25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is</a:t>
            </a:r>
            <a:r>
              <a:rPr dirty="0" sz="2400" spc="-25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more</a:t>
            </a:r>
            <a:r>
              <a:rPr dirty="0" sz="2400" spc="-25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than</a:t>
            </a:r>
            <a:r>
              <a:rPr dirty="0" sz="2400" spc="-25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a</a:t>
            </a:r>
            <a:r>
              <a:rPr dirty="0" sz="2400" spc="-25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reactive</a:t>
            </a:r>
            <a:r>
              <a:rPr dirty="0" sz="2400" spc="-20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tool;</a:t>
            </a:r>
            <a:r>
              <a:rPr dirty="0" sz="2400" spc="-25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it's</a:t>
            </a:r>
            <a:r>
              <a:rPr dirty="0" sz="2400" spc="-25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a</a:t>
            </a:r>
            <a:r>
              <a:rPr dirty="0" sz="2400" spc="-25" b="0">
                <a:latin typeface="Georgia"/>
                <a:cs typeface="Georgia"/>
              </a:rPr>
              <a:t> co- </a:t>
            </a:r>
            <a:r>
              <a:rPr dirty="0" sz="2400" b="0">
                <a:latin typeface="Georgia"/>
                <a:cs typeface="Georgia"/>
              </a:rPr>
              <a:t>pilot.</a:t>
            </a:r>
            <a:r>
              <a:rPr dirty="0" sz="2400" spc="-50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Upon</a:t>
            </a:r>
            <a:r>
              <a:rPr dirty="0" sz="2400" spc="-45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login,</a:t>
            </a:r>
            <a:r>
              <a:rPr dirty="0" sz="2400" spc="-45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it</a:t>
            </a:r>
            <a:r>
              <a:rPr dirty="0" sz="2400" spc="-50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proactively</a:t>
            </a:r>
            <a:r>
              <a:rPr dirty="0" sz="2400" spc="-45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queries</a:t>
            </a:r>
            <a:r>
              <a:rPr dirty="0" sz="2400" spc="-45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the</a:t>
            </a:r>
            <a:r>
              <a:rPr dirty="0" sz="2400" spc="-50" b="0">
                <a:latin typeface="Georgia"/>
                <a:cs typeface="Georgia"/>
              </a:rPr>
              <a:t> </a:t>
            </a:r>
            <a:r>
              <a:rPr dirty="0" sz="2400" spc="-25" b="0">
                <a:latin typeface="Georgia"/>
                <a:cs typeface="Georgia"/>
              </a:rPr>
              <a:t>IBM </a:t>
            </a:r>
            <a:r>
              <a:rPr dirty="0" sz="2400" b="0">
                <a:latin typeface="Georgia"/>
                <a:cs typeface="Georgia"/>
              </a:rPr>
              <a:t>Db2</a:t>
            </a:r>
            <a:r>
              <a:rPr dirty="0" sz="2400" spc="-45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database</a:t>
            </a:r>
            <a:r>
              <a:rPr dirty="0" sz="2400" spc="-45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to</a:t>
            </a:r>
            <a:r>
              <a:rPr dirty="0" sz="2400" spc="-45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display</a:t>
            </a:r>
            <a:r>
              <a:rPr dirty="0" sz="2400" spc="-45" b="0">
                <a:latin typeface="Georgia"/>
                <a:cs typeface="Georgia"/>
              </a:rPr>
              <a:t> </a:t>
            </a:r>
            <a:r>
              <a:rPr dirty="0" sz="2400" spc="-25" b="0">
                <a:latin typeface="Georgia"/>
                <a:cs typeface="Georgia"/>
              </a:rPr>
              <a:t>"Actionable</a:t>
            </a:r>
            <a:r>
              <a:rPr dirty="0" sz="2400" spc="-45" b="0">
                <a:latin typeface="Georgia"/>
                <a:cs typeface="Georgia"/>
              </a:rPr>
              <a:t> </a:t>
            </a:r>
            <a:r>
              <a:rPr dirty="0" sz="2400" spc="-10" b="0">
                <a:latin typeface="Georgia"/>
                <a:cs typeface="Georgia"/>
              </a:rPr>
              <a:t>Insights," </a:t>
            </a:r>
            <a:r>
              <a:rPr dirty="0" sz="2400" b="0">
                <a:latin typeface="Georgia"/>
                <a:cs typeface="Georgia"/>
              </a:rPr>
              <a:t>instantly</a:t>
            </a:r>
            <a:r>
              <a:rPr dirty="0" sz="2400" spc="-40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alerting</a:t>
            </a:r>
            <a:r>
              <a:rPr dirty="0" sz="2400" spc="-35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the</a:t>
            </a:r>
            <a:r>
              <a:rPr dirty="0" sz="2400" spc="-35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user</a:t>
            </a:r>
            <a:r>
              <a:rPr dirty="0" sz="2400" spc="-35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to</a:t>
            </a:r>
            <a:r>
              <a:rPr dirty="0" sz="2400" spc="-35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recent,</a:t>
            </a:r>
            <a:r>
              <a:rPr dirty="0" sz="2400" spc="-35" b="0">
                <a:latin typeface="Georgia"/>
                <a:cs typeface="Georgia"/>
              </a:rPr>
              <a:t> </a:t>
            </a:r>
            <a:r>
              <a:rPr dirty="0" sz="2400" spc="-20" b="0">
                <a:latin typeface="Georgia"/>
                <a:cs typeface="Georgia"/>
              </a:rPr>
              <a:t>high-</a:t>
            </a:r>
            <a:r>
              <a:rPr dirty="0" sz="2400" spc="-10" b="0">
                <a:latin typeface="Georgia"/>
                <a:cs typeface="Georgia"/>
              </a:rPr>
              <a:t>priority </a:t>
            </a:r>
            <a:r>
              <a:rPr dirty="0" sz="2400" b="0">
                <a:latin typeface="Georgia"/>
                <a:cs typeface="Georgia"/>
              </a:rPr>
              <a:t>"Sick"</a:t>
            </a:r>
            <a:r>
              <a:rPr dirty="0" sz="2400" spc="-35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cases,</a:t>
            </a:r>
            <a:r>
              <a:rPr dirty="0" sz="2400" spc="-30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which</a:t>
            </a:r>
            <a:r>
              <a:rPr dirty="0" sz="2400" spc="-30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helps</a:t>
            </a:r>
            <a:r>
              <a:rPr dirty="0" sz="2400" spc="-30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in</a:t>
            </a:r>
            <a:r>
              <a:rPr dirty="0" sz="2400" spc="-30" b="0">
                <a:latin typeface="Georgia"/>
                <a:cs typeface="Georgia"/>
              </a:rPr>
              <a:t> </a:t>
            </a:r>
            <a:r>
              <a:rPr dirty="0" sz="2400" b="0">
                <a:latin typeface="Georgia"/>
                <a:cs typeface="Georgia"/>
              </a:rPr>
              <a:t>managing</a:t>
            </a:r>
            <a:r>
              <a:rPr dirty="0" sz="2400" spc="-30" b="0">
                <a:latin typeface="Georgia"/>
                <a:cs typeface="Georgia"/>
              </a:rPr>
              <a:t> </a:t>
            </a:r>
            <a:r>
              <a:rPr dirty="0" sz="2400" spc="-10" b="0">
                <a:latin typeface="Georgia"/>
                <a:cs typeface="Georgia"/>
              </a:rPr>
              <a:t>clinical workload.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212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dirty="0" spc="-20"/>
              <a:t>Enterprise-</a:t>
            </a:r>
            <a:r>
              <a:rPr dirty="0"/>
              <a:t>Grade</a:t>
            </a:r>
            <a:r>
              <a:rPr dirty="0" spc="-40"/>
              <a:t> </a:t>
            </a:r>
            <a:r>
              <a:rPr dirty="0"/>
              <a:t>IBM</a:t>
            </a:r>
            <a:r>
              <a:rPr dirty="0" spc="-40"/>
              <a:t> </a:t>
            </a:r>
            <a:r>
              <a:rPr dirty="0"/>
              <a:t>Cloud</a:t>
            </a:r>
            <a:r>
              <a:rPr dirty="0" spc="-40"/>
              <a:t> </a:t>
            </a:r>
            <a:r>
              <a:rPr dirty="0" spc="-10"/>
              <a:t>Architecture</a:t>
            </a:r>
          </a:p>
          <a:p>
            <a:pPr marL="67945" marR="735330">
              <a:lnSpc>
                <a:spcPts val="2850"/>
              </a:lnSpc>
              <a:spcBef>
                <a:spcPts val="1425"/>
              </a:spcBef>
            </a:pP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This</a:t>
            </a:r>
            <a:r>
              <a:rPr dirty="0" sz="2400" spc="-3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entire</a:t>
            </a:r>
            <a:r>
              <a:rPr dirty="0" sz="2400" spc="-2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platform</a:t>
            </a:r>
            <a:r>
              <a:rPr dirty="0" sz="2400" spc="-3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is</a:t>
            </a:r>
            <a:r>
              <a:rPr dirty="0" sz="2400" spc="-2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built</a:t>
            </a:r>
            <a:r>
              <a:rPr dirty="0" sz="2400" spc="-3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on</a:t>
            </a:r>
            <a:r>
              <a:rPr dirty="0" sz="2400" spc="-2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r>
              <a:rPr dirty="0" sz="2400" spc="-3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secure</a:t>
            </a:r>
            <a:r>
              <a:rPr dirty="0" sz="2400" spc="-2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and</a:t>
            </a:r>
            <a:r>
              <a:rPr dirty="0" sz="2400" spc="-3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 b="0">
                <a:solidFill>
                  <a:srgbClr val="231F20"/>
                </a:solidFill>
                <a:latin typeface="Georgia"/>
                <a:cs typeface="Georgia"/>
              </a:rPr>
              <a:t>scalable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foundation.</a:t>
            </a:r>
            <a:r>
              <a:rPr dirty="0" sz="2400" spc="-1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We</a:t>
            </a:r>
            <a:r>
              <a:rPr dirty="0" sz="2400" spc="-1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use</a:t>
            </a:r>
            <a:r>
              <a:rPr dirty="0" sz="2400" spc="-1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IBM</a:t>
            </a:r>
            <a:r>
              <a:rPr dirty="0" sz="2400" spc="-1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Db2</a:t>
            </a:r>
            <a:r>
              <a:rPr dirty="0" sz="2400" spc="-1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on</a:t>
            </a:r>
            <a:r>
              <a:rPr dirty="0" sz="2400" spc="-1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Cloud</a:t>
            </a:r>
            <a:r>
              <a:rPr dirty="0" sz="2400" spc="-1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for</a:t>
            </a:r>
            <a:r>
              <a:rPr dirty="0" sz="2400" spc="-1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 b="0">
                <a:solidFill>
                  <a:srgbClr val="231F20"/>
                </a:solidFill>
                <a:latin typeface="Georgia"/>
                <a:cs typeface="Georgia"/>
              </a:rPr>
              <a:t>structured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patient</a:t>
            </a:r>
            <a:r>
              <a:rPr dirty="0" sz="2400" spc="-3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data</a:t>
            </a:r>
            <a:r>
              <a:rPr dirty="0" sz="2400" spc="-3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and</a:t>
            </a:r>
            <a:r>
              <a:rPr dirty="0" sz="2400" spc="-2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IBM</a:t>
            </a:r>
            <a:r>
              <a:rPr dirty="0" sz="2400" spc="-3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Cloud</a:t>
            </a:r>
            <a:r>
              <a:rPr dirty="0" sz="2400" spc="-3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Object</a:t>
            </a:r>
            <a:r>
              <a:rPr dirty="0" sz="2400" spc="-2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Storage</a:t>
            </a:r>
            <a:r>
              <a:rPr dirty="0" sz="2400" spc="-3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25" b="0">
                <a:solidFill>
                  <a:srgbClr val="231F20"/>
                </a:solidFill>
                <a:latin typeface="Georgia"/>
                <a:cs typeface="Georgia"/>
              </a:rPr>
              <a:t>for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handling</a:t>
            </a:r>
            <a:r>
              <a:rPr dirty="0" sz="2400" spc="-3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large,</a:t>
            </a:r>
            <a:r>
              <a:rPr dirty="0" sz="2400" spc="-3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sensitive</a:t>
            </a:r>
            <a:r>
              <a:rPr dirty="0" sz="2400" spc="-3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MRI</a:t>
            </a:r>
            <a:r>
              <a:rPr dirty="0" sz="2400" spc="-3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image</a:t>
            </a:r>
            <a:r>
              <a:rPr dirty="0" sz="2400" spc="-3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 b="0">
                <a:solidFill>
                  <a:srgbClr val="231F20"/>
                </a:solidFill>
                <a:latin typeface="Georgia"/>
                <a:cs typeface="Georgia"/>
              </a:rPr>
              <a:t>files,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demonstrating</a:t>
            </a:r>
            <a:r>
              <a:rPr dirty="0" sz="2400" spc="-5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r>
              <a:rPr dirty="0" sz="2400" spc="-5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professional,</a:t>
            </a:r>
            <a:r>
              <a:rPr dirty="0" sz="2400" spc="-5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 b="0">
                <a:solidFill>
                  <a:srgbClr val="231F20"/>
                </a:solidFill>
                <a:latin typeface="Georgia"/>
                <a:cs typeface="Georgia"/>
              </a:rPr>
              <a:t>real-world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implementation</a:t>
            </a:r>
            <a:r>
              <a:rPr dirty="0" sz="2400" spc="-2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ready</a:t>
            </a:r>
            <a:r>
              <a:rPr dirty="0" sz="2400" spc="-2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for</a:t>
            </a:r>
            <a:r>
              <a:rPr dirty="0" sz="2400" spc="-2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clinical</a:t>
            </a:r>
            <a:r>
              <a:rPr dirty="0" sz="2400" spc="-2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 b="0">
                <a:solidFill>
                  <a:srgbClr val="231F20"/>
                </a:solidFill>
                <a:latin typeface="Georgia"/>
                <a:cs typeface="Georgia"/>
              </a:rPr>
              <a:t>environments.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2400">
              <a:latin typeface="Georgia"/>
              <a:cs typeface="Georgia"/>
            </a:endParaRPr>
          </a:p>
          <a:p>
            <a:pPr marL="40640">
              <a:lnSpc>
                <a:spcPct val="100000"/>
              </a:lnSpc>
            </a:pPr>
            <a:r>
              <a:rPr dirty="0" spc="114"/>
              <a:t>Data-</a:t>
            </a:r>
            <a:r>
              <a:rPr dirty="0" spc="90"/>
              <a:t>Driven</a:t>
            </a:r>
            <a:r>
              <a:rPr dirty="0" spc="254"/>
              <a:t> </a:t>
            </a:r>
            <a:r>
              <a:rPr dirty="0" spc="105"/>
              <a:t>Conversational</a:t>
            </a:r>
            <a:r>
              <a:rPr dirty="0" spc="260"/>
              <a:t> </a:t>
            </a:r>
            <a:r>
              <a:rPr dirty="0" spc="-25"/>
              <a:t>AI</a:t>
            </a:r>
          </a:p>
          <a:p>
            <a:pPr marL="137160" marR="960755">
              <a:lnSpc>
                <a:spcPct val="114599"/>
              </a:lnSpc>
              <a:spcBef>
                <a:spcPts val="1100"/>
              </a:spcBef>
            </a:pP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We</a:t>
            </a:r>
            <a:r>
              <a:rPr dirty="0" sz="2400" spc="-1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have</a:t>
            </a:r>
            <a:r>
              <a:rPr dirty="0" sz="2400" spc="-1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integrated</a:t>
            </a:r>
            <a:r>
              <a:rPr dirty="0" sz="2400" spc="-1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an</a:t>
            </a:r>
            <a:r>
              <a:rPr dirty="0" sz="2400" spc="-1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IBM</a:t>
            </a:r>
            <a:r>
              <a:rPr dirty="0" sz="2400" spc="-1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Watsonx</a:t>
            </a:r>
            <a:r>
              <a:rPr dirty="0" sz="2400" spc="-1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Assistant</a:t>
            </a:r>
            <a:r>
              <a:rPr dirty="0" sz="2400" spc="-1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20" b="0">
                <a:solidFill>
                  <a:srgbClr val="231F20"/>
                </a:solidFill>
                <a:latin typeface="Georgia"/>
                <a:cs typeface="Georgia"/>
              </a:rPr>
              <a:t>that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is</a:t>
            </a:r>
            <a:r>
              <a:rPr dirty="0" sz="2400" spc="-2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not</a:t>
            </a:r>
            <a:r>
              <a:rPr dirty="0" sz="2400" spc="-2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just</a:t>
            </a:r>
            <a:r>
              <a:rPr dirty="0" sz="2400" spc="-2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r>
              <a:rPr dirty="0" sz="2400" spc="-2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simple</a:t>
            </a:r>
            <a:r>
              <a:rPr dirty="0" sz="2400" spc="-2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Q&amp;A</a:t>
            </a:r>
            <a:r>
              <a:rPr dirty="0" sz="2400" spc="-2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bot.</a:t>
            </a:r>
            <a:r>
              <a:rPr dirty="0" sz="2400" spc="-2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It</a:t>
            </a:r>
            <a:r>
              <a:rPr dirty="0" sz="2400" spc="-2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is</a:t>
            </a:r>
            <a:r>
              <a:rPr dirty="0" sz="2400" spc="-2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r>
              <a:rPr dirty="0" sz="2400" spc="-2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powerful</a:t>
            </a:r>
            <a:r>
              <a:rPr dirty="0" sz="2400" spc="-2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 b="0">
                <a:solidFill>
                  <a:srgbClr val="231F20"/>
                </a:solidFill>
                <a:latin typeface="Georgia"/>
                <a:cs typeface="Georgia"/>
              </a:rPr>
              <a:t>digital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assistant</a:t>
            </a:r>
            <a:r>
              <a:rPr dirty="0" sz="2400" spc="-3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that</a:t>
            </a:r>
            <a:r>
              <a:rPr dirty="0" sz="2400" spc="-3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can</a:t>
            </a:r>
            <a:r>
              <a:rPr dirty="0" sz="2400" spc="-3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perform</a:t>
            </a:r>
            <a:r>
              <a:rPr dirty="0" sz="2400" spc="-3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complex,</a:t>
            </a:r>
            <a:r>
              <a:rPr dirty="0" sz="2400" spc="-3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live</a:t>
            </a:r>
            <a:r>
              <a:rPr dirty="0" sz="2400" spc="-3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 b="0">
                <a:solidFill>
                  <a:srgbClr val="231F20"/>
                </a:solidFill>
                <a:latin typeface="Georgia"/>
                <a:cs typeface="Georgia"/>
              </a:rPr>
              <a:t>queries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against</a:t>
            </a:r>
            <a:r>
              <a:rPr dirty="0" sz="2400" spc="-4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our</a:t>
            </a:r>
            <a:r>
              <a:rPr dirty="0" sz="2400" spc="-4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IBM</a:t>
            </a:r>
            <a:r>
              <a:rPr dirty="0" sz="2400" spc="-4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Db2</a:t>
            </a:r>
            <a:r>
              <a:rPr dirty="0" sz="2400" spc="-4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database</a:t>
            </a:r>
            <a:r>
              <a:rPr dirty="0" sz="2400" spc="-4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to</a:t>
            </a:r>
            <a:r>
              <a:rPr dirty="0" sz="2400" spc="-4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provide</a:t>
            </a:r>
            <a:r>
              <a:rPr dirty="0" sz="2400" spc="-4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10" b="0">
                <a:solidFill>
                  <a:srgbClr val="231F20"/>
                </a:solidFill>
                <a:latin typeface="Georgia"/>
                <a:cs typeface="Georgia"/>
              </a:rPr>
              <a:t>instant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data</a:t>
            </a:r>
            <a:r>
              <a:rPr dirty="0" sz="2400" spc="-2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insights,</a:t>
            </a:r>
            <a:r>
              <a:rPr dirty="0" sz="2400" spc="-1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such</a:t>
            </a:r>
            <a:r>
              <a:rPr dirty="0" sz="2400" spc="-2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as</a:t>
            </a:r>
            <a:r>
              <a:rPr dirty="0" sz="2400" spc="-1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getting</a:t>
            </a:r>
            <a:r>
              <a:rPr dirty="0" sz="2400" spc="-1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r>
              <a:rPr dirty="0" sz="2400" spc="-20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patient</a:t>
            </a:r>
            <a:r>
              <a:rPr dirty="0" sz="2400" spc="-1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summary</a:t>
            </a:r>
            <a:r>
              <a:rPr dirty="0" sz="2400" spc="-15" b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2400" spc="-25" b="0">
                <a:solidFill>
                  <a:srgbClr val="231F20"/>
                </a:solidFill>
                <a:latin typeface="Georgia"/>
                <a:cs typeface="Georgia"/>
              </a:rPr>
              <a:t>or </a:t>
            </a:r>
            <a:r>
              <a:rPr dirty="0" sz="2400" b="0">
                <a:solidFill>
                  <a:srgbClr val="231F20"/>
                </a:solidFill>
                <a:latin typeface="Georgia"/>
                <a:cs typeface="Georgia"/>
              </a:rPr>
              <a:t>counting </a:t>
            </a:r>
            <a:r>
              <a:rPr dirty="0" sz="2400" spc="-10" b="0">
                <a:solidFill>
                  <a:srgbClr val="231F20"/>
                </a:solidFill>
                <a:latin typeface="Georgia"/>
                <a:cs typeface="Georgia"/>
              </a:rPr>
              <a:t>diagnoses.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291847"/>
            <a:ext cx="18288000" cy="8995410"/>
            <a:chOff x="0" y="1291847"/>
            <a:chExt cx="18288000" cy="8995410"/>
          </a:xfrm>
        </p:grpSpPr>
        <p:sp>
          <p:nvSpPr>
            <p:cNvPr id="3" name="object 3" descr=""/>
            <p:cNvSpPr/>
            <p:nvPr/>
          </p:nvSpPr>
          <p:spPr>
            <a:xfrm>
              <a:off x="0" y="1291847"/>
              <a:ext cx="18288000" cy="8995410"/>
            </a:xfrm>
            <a:custGeom>
              <a:avLst/>
              <a:gdLst/>
              <a:ahLst/>
              <a:cxnLst/>
              <a:rect l="l" t="t" r="r" b="b"/>
              <a:pathLst>
                <a:path w="18288000" h="8995410">
                  <a:moveTo>
                    <a:pt x="0" y="8995151"/>
                  </a:moveTo>
                  <a:lnTo>
                    <a:pt x="18287998" y="8995151"/>
                  </a:lnTo>
                  <a:lnTo>
                    <a:pt x="18287998" y="0"/>
                  </a:lnTo>
                  <a:lnTo>
                    <a:pt x="0" y="0"/>
                  </a:lnTo>
                  <a:lnTo>
                    <a:pt x="0" y="8995151"/>
                  </a:lnTo>
                  <a:close/>
                </a:path>
              </a:pathLst>
            </a:custGeom>
            <a:solidFill>
              <a:srgbClr val="CAE7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9887" y="1750839"/>
              <a:ext cx="2461539" cy="246153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598960" y="2099912"/>
              <a:ext cx="1762125" cy="1762125"/>
            </a:xfrm>
            <a:custGeom>
              <a:avLst/>
              <a:gdLst/>
              <a:ahLst/>
              <a:cxnLst/>
              <a:rect l="l" t="t" r="r" b="b"/>
              <a:pathLst>
                <a:path w="1762125" h="1762125">
                  <a:moveTo>
                    <a:pt x="903478" y="1762029"/>
                  </a:moveTo>
                  <a:lnTo>
                    <a:pt x="858551" y="1762029"/>
                  </a:lnTo>
                  <a:lnTo>
                    <a:pt x="813815" y="1756794"/>
                  </a:lnTo>
                  <a:lnTo>
                    <a:pt x="769840" y="1746229"/>
                  </a:lnTo>
                  <a:lnTo>
                    <a:pt x="727198" y="1730428"/>
                  </a:lnTo>
                  <a:lnTo>
                    <a:pt x="686270" y="1709298"/>
                  </a:lnTo>
                  <a:lnTo>
                    <a:pt x="647625" y="1682932"/>
                  </a:lnTo>
                  <a:lnTo>
                    <a:pt x="611741" y="1651236"/>
                  </a:lnTo>
                  <a:lnTo>
                    <a:pt x="110793" y="1150287"/>
                  </a:lnTo>
                  <a:lnTo>
                    <a:pt x="79097" y="1114403"/>
                  </a:lnTo>
                  <a:lnTo>
                    <a:pt x="52731" y="1075759"/>
                  </a:lnTo>
                  <a:lnTo>
                    <a:pt x="31600" y="1034830"/>
                  </a:lnTo>
                  <a:lnTo>
                    <a:pt x="15800" y="992188"/>
                  </a:lnTo>
                  <a:lnTo>
                    <a:pt x="5235" y="948214"/>
                  </a:lnTo>
                  <a:lnTo>
                    <a:pt x="0" y="903478"/>
                  </a:lnTo>
                  <a:lnTo>
                    <a:pt x="0" y="858551"/>
                  </a:lnTo>
                  <a:lnTo>
                    <a:pt x="5235" y="813815"/>
                  </a:lnTo>
                  <a:lnTo>
                    <a:pt x="15800" y="769840"/>
                  </a:lnTo>
                  <a:lnTo>
                    <a:pt x="31695" y="727199"/>
                  </a:lnTo>
                  <a:lnTo>
                    <a:pt x="52826" y="686270"/>
                  </a:lnTo>
                  <a:lnTo>
                    <a:pt x="79192" y="647625"/>
                  </a:lnTo>
                  <a:lnTo>
                    <a:pt x="110888" y="611741"/>
                  </a:lnTo>
                  <a:lnTo>
                    <a:pt x="611741" y="110888"/>
                  </a:lnTo>
                  <a:lnTo>
                    <a:pt x="647625" y="79192"/>
                  </a:lnTo>
                  <a:lnTo>
                    <a:pt x="686270" y="52826"/>
                  </a:lnTo>
                  <a:lnTo>
                    <a:pt x="727199" y="31695"/>
                  </a:lnTo>
                  <a:lnTo>
                    <a:pt x="769841" y="15895"/>
                  </a:lnTo>
                  <a:lnTo>
                    <a:pt x="813815" y="5235"/>
                  </a:lnTo>
                  <a:lnTo>
                    <a:pt x="858551" y="0"/>
                  </a:lnTo>
                  <a:lnTo>
                    <a:pt x="903478" y="0"/>
                  </a:lnTo>
                  <a:lnTo>
                    <a:pt x="948214" y="5235"/>
                  </a:lnTo>
                  <a:lnTo>
                    <a:pt x="992188" y="15800"/>
                  </a:lnTo>
                  <a:lnTo>
                    <a:pt x="1034830" y="31600"/>
                  </a:lnTo>
                  <a:lnTo>
                    <a:pt x="1075759" y="52731"/>
                  </a:lnTo>
                  <a:lnTo>
                    <a:pt x="1114403" y="79097"/>
                  </a:lnTo>
                  <a:lnTo>
                    <a:pt x="1150287" y="110793"/>
                  </a:lnTo>
                  <a:lnTo>
                    <a:pt x="1651236" y="611741"/>
                  </a:lnTo>
                  <a:lnTo>
                    <a:pt x="1682932" y="647625"/>
                  </a:lnTo>
                  <a:lnTo>
                    <a:pt x="1709298" y="686270"/>
                  </a:lnTo>
                  <a:lnTo>
                    <a:pt x="1730429" y="727199"/>
                  </a:lnTo>
                  <a:lnTo>
                    <a:pt x="1746229" y="769841"/>
                  </a:lnTo>
                  <a:lnTo>
                    <a:pt x="1756794" y="813815"/>
                  </a:lnTo>
                  <a:lnTo>
                    <a:pt x="1762029" y="858551"/>
                  </a:lnTo>
                  <a:lnTo>
                    <a:pt x="1762029" y="903478"/>
                  </a:lnTo>
                  <a:lnTo>
                    <a:pt x="1756794" y="948214"/>
                  </a:lnTo>
                  <a:lnTo>
                    <a:pt x="1746229" y="992188"/>
                  </a:lnTo>
                  <a:lnTo>
                    <a:pt x="1730429" y="1034830"/>
                  </a:lnTo>
                  <a:lnTo>
                    <a:pt x="1709298" y="1075759"/>
                  </a:lnTo>
                  <a:lnTo>
                    <a:pt x="1682932" y="1114403"/>
                  </a:lnTo>
                  <a:lnTo>
                    <a:pt x="1651236" y="1150287"/>
                  </a:lnTo>
                  <a:lnTo>
                    <a:pt x="1150287" y="1651236"/>
                  </a:lnTo>
                  <a:lnTo>
                    <a:pt x="1114403" y="1682932"/>
                  </a:lnTo>
                  <a:lnTo>
                    <a:pt x="1075759" y="1709298"/>
                  </a:lnTo>
                  <a:lnTo>
                    <a:pt x="1034830" y="1730429"/>
                  </a:lnTo>
                  <a:lnTo>
                    <a:pt x="992188" y="1746229"/>
                  </a:lnTo>
                  <a:lnTo>
                    <a:pt x="948214" y="1756794"/>
                  </a:lnTo>
                  <a:lnTo>
                    <a:pt x="903478" y="1762029"/>
                  </a:lnTo>
                  <a:close/>
                </a:path>
              </a:pathLst>
            </a:custGeom>
            <a:solidFill>
              <a:srgbClr val="1537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381915" y="2748512"/>
            <a:ext cx="24892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3000">
              <a:latin typeface="Trebuchet MS"/>
              <a:cs typeface="Trebuchet MS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5380888" y="1750839"/>
            <a:ext cx="2461895" cy="2461895"/>
            <a:chOff x="5380888" y="1750839"/>
            <a:chExt cx="2461895" cy="2461895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80888" y="1750839"/>
              <a:ext cx="2461539" cy="246153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5724695" y="2099912"/>
              <a:ext cx="1762125" cy="1762125"/>
            </a:xfrm>
            <a:custGeom>
              <a:avLst/>
              <a:gdLst/>
              <a:ahLst/>
              <a:cxnLst/>
              <a:rect l="l" t="t" r="r" b="b"/>
              <a:pathLst>
                <a:path w="1762125" h="1762125">
                  <a:moveTo>
                    <a:pt x="903478" y="1762029"/>
                  </a:moveTo>
                  <a:lnTo>
                    <a:pt x="858551" y="1762029"/>
                  </a:lnTo>
                  <a:lnTo>
                    <a:pt x="813815" y="1756794"/>
                  </a:lnTo>
                  <a:lnTo>
                    <a:pt x="769840" y="1746229"/>
                  </a:lnTo>
                  <a:lnTo>
                    <a:pt x="727198" y="1730428"/>
                  </a:lnTo>
                  <a:lnTo>
                    <a:pt x="686270" y="1709298"/>
                  </a:lnTo>
                  <a:lnTo>
                    <a:pt x="647625" y="1682932"/>
                  </a:lnTo>
                  <a:lnTo>
                    <a:pt x="611741" y="1651236"/>
                  </a:lnTo>
                  <a:lnTo>
                    <a:pt x="110793" y="1150287"/>
                  </a:lnTo>
                  <a:lnTo>
                    <a:pt x="79097" y="1114403"/>
                  </a:lnTo>
                  <a:lnTo>
                    <a:pt x="52731" y="1075759"/>
                  </a:lnTo>
                  <a:lnTo>
                    <a:pt x="31600" y="1034830"/>
                  </a:lnTo>
                  <a:lnTo>
                    <a:pt x="15800" y="992188"/>
                  </a:lnTo>
                  <a:lnTo>
                    <a:pt x="5235" y="948214"/>
                  </a:lnTo>
                  <a:lnTo>
                    <a:pt x="0" y="903478"/>
                  </a:lnTo>
                  <a:lnTo>
                    <a:pt x="0" y="858551"/>
                  </a:lnTo>
                  <a:lnTo>
                    <a:pt x="5235" y="813815"/>
                  </a:lnTo>
                  <a:lnTo>
                    <a:pt x="15800" y="769840"/>
                  </a:lnTo>
                  <a:lnTo>
                    <a:pt x="31695" y="727199"/>
                  </a:lnTo>
                  <a:lnTo>
                    <a:pt x="52826" y="686270"/>
                  </a:lnTo>
                  <a:lnTo>
                    <a:pt x="79192" y="647625"/>
                  </a:lnTo>
                  <a:lnTo>
                    <a:pt x="110888" y="611741"/>
                  </a:lnTo>
                  <a:lnTo>
                    <a:pt x="611741" y="110888"/>
                  </a:lnTo>
                  <a:lnTo>
                    <a:pt x="647625" y="79192"/>
                  </a:lnTo>
                  <a:lnTo>
                    <a:pt x="686270" y="52826"/>
                  </a:lnTo>
                  <a:lnTo>
                    <a:pt x="727199" y="31695"/>
                  </a:lnTo>
                  <a:lnTo>
                    <a:pt x="769841" y="15895"/>
                  </a:lnTo>
                  <a:lnTo>
                    <a:pt x="813815" y="5235"/>
                  </a:lnTo>
                  <a:lnTo>
                    <a:pt x="858551" y="0"/>
                  </a:lnTo>
                  <a:lnTo>
                    <a:pt x="903478" y="0"/>
                  </a:lnTo>
                  <a:lnTo>
                    <a:pt x="948214" y="5235"/>
                  </a:lnTo>
                  <a:lnTo>
                    <a:pt x="992188" y="15800"/>
                  </a:lnTo>
                  <a:lnTo>
                    <a:pt x="1034830" y="31600"/>
                  </a:lnTo>
                  <a:lnTo>
                    <a:pt x="1075759" y="52731"/>
                  </a:lnTo>
                  <a:lnTo>
                    <a:pt x="1114403" y="79097"/>
                  </a:lnTo>
                  <a:lnTo>
                    <a:pt x="1150287" y="110793"/>
                  </a:lnTo>
                  <a:lnTo>
                    <a:pt x="1651236" y="611741"/>
                  </a:lnTo>
                  <a:lnTo>
                    <a:pt x="1682932" y="647625"/>
                  </a:lnTo>
                  <a:lnTo>
                    <a:pt x="1709298" y="686270"/>
                  </a:lnTo>
                  <a:lnTo>
                    <a:pt x="1730429" y="727199"/>
                  </a:lnTo>
                  <a:lnTo>
                    <a:pt x="1746229" y="769841"/>
                  </a:lnTo>
                  <a:lnTo>
                    <a:pt x="1756794" y="813815"/>
                  </a:lnTo>
                  <a:lnTo>
                    <a:pt x="1762029" y="858551"/>
                  </a:lnTo>
                  <a:lnTo>
                    <a:pt x="1762029" y="903478"/>
                  </a:lnTo>
                  <a:lnTo>
                    <a:pt x="1756794" y="948214"/>
                  </a:lnTo>
                  <a:lnTo>
                    <a:pt x="1746229" y="992188"/>
                  </a:lnTo>
                  <a:lnTo>
                    <a:pt x="1730429" y="1034830"/>
                  </a:lnTo>
                  <a:lnTo>
                    <a:pt x="1709298" y="1075759"/>
                  </a:lnTo>
                  <a:lnTo>
                    <a:pt x="1682932" y="1114403"/>
                  </a:lnTo>
                  <a:lnTo>
                    <a:pt x="1651236" y="1150287"/>
                  </a:lnTo>
                  <a:lnTo>
                    <a:pt x="1150287" y="1651236"/>
                  </a:lnTo>
                  <a:lnTo>
                    <a:pt x="1114403" y="1682932"/>
                  </a:lnTo>
                  <a:lnTo>
                    <a:pt x="1075759" y="1709298"/>
                  </a:lnTo>
                  <a:lnTo>
                    <a:pt x="1034830" y="1730429"/>
                  </a:lnTo>
                  <a:lnTo>
                    <a:pt x="992188" y="1746229"/>
                  </a:lnTo>
                  <a:lnTo>
                    <a:pt x="948214" y="1756794"/>
                  </a:lnTo>
                  <a:lnTo>
                    <a:pt x="903478" y="1762029"/>
                  </a:lnTo>
                  <a:close/>
                </a:path>
              </a:pathLst>
            </a:custGeom>
            <a:solidFill>
              <a:srgbClr val="1537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5368188" y="5643963"/>
            <a:ext cx="3446145" cy="3530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Explored</a:t>
            </a:r>
            <a:r>
              <a:rPr dirty="0" sz="2500" spc="-8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25">
                <a:solidFill>
                  <a:srgbClr val="292E3A"/>
                </a:solidFill>
                <a:latin typeface="Georgia"/>
                <a:cs typeface="Georgia"/>
              </a:rPr>
              <a:t>the</a:t>
            </a:r>
            <a:r>
              <a:rPr dirty="0" sz="2500" spc="62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capabilities</a:t>
            </a:r>
            <a:r>
              <a:rPr dirty="0" sz="2500" spc="-6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of</a:t>
            </a:r>
            <a:r>
              <a:rPr dirty="0" sz="2500" spc="-6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Watsonx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Assistant</a:t>
            </a:r>
            <a:r>
              <a:rPr dirty="0" sz="2500" spc="-8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to</a:t>
            </a:r>
            <a:r>
              <a:rPr dirty="0" sz="2500" spc="-8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build</a:t>
            </a:r>
            <a:r>
              <a:rPr dirty="0" sz="2500" spc="-8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25">
                <a:solidFill>
                  <a:srgbClr val="292E3A"/>
                </a:solidFill>
                <a:latin typeface="Georgia"/>
                <a:cs typeface="Georgia"/>
              </a:rPr>
              <a:t>an </a:t>
            </a: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intelligent,</a:t>
            </a:r>
            <a:r>
              <a:rPr dirty="0" sz="2500" spc="-4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25">
                <a:solidFill>
                  <a:srgbClr val="292E3A"/>
                </a:solidFill>
                <a:latin typeface="Georgia"/>
                <a:cs typeface="Georgia"/>
              </a:rPr>
              <a:t>data-</a:t>
            </a: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driven conversational</a:t>
            </a:r>
            <a:r>
              <a:rPr dirty="0" sz="2500" spc="-6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AI</a:t>
            </a:r>
            <a:r>
              <a:rPr dirty="0" sz="2500" spc="-6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20">
                <a:solidFill>
                  <a:srgbClr val="292E3A"/>
                </a:solidFill>
                <a:latin typeface="Georgia"/>
                <a:cs typeface="Georgia"/>
              </a:rPr>
              <a:t>that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acts</a:t>
            </a:r>
            <a:r>
              <a:rPr dirty="0" sz="2500" spc="-7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as</a:t>
            </a:r>
            <a:r>
              <a:rPr dirty="0" sz="2500" spc="-6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a</a:t>
            </a:r>
            <a:r>
              <a:rPr dirty="0" sz="2500" spc="-6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powerful</a:t>
            </a:r>
            <a:r>
              <a:rPr dirty="0" sz="2500" spc="-6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digital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assistant</a:t>
            </a:r>
            <a:r>
              <a:rPr dirty="0" sz="2500" spc="-13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25">
                <a:solidFill>
                  <a:srgbClr val="292E3A"/>
                </a:solidFill>
                <a:latin typeface="Georgia"/>
                <a:cs typeface="Georgia"/>
              </a:rPr>
              <a:t>for </a:t>
            </a: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professional</a:t>
            </a:r>
            <a:r>
              <a:rPr dirty="0" sz="2500" spc="-7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users.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492232" y="2748512"/>
            <a:ext cx="24892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370974" y="5612430"/>
            <a:ext cx="3486150" cy="3968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Learned</a:t>
            </a:r>
            <a:r>
              <a:rPr dirty="0" sz="2500" spc="-8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about</a:t>
            </a:r>
            <a:r>
              <a:rPr dirty="0" sz="2500" spc="-7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25">
                <a:solidFill>
                  <a:srgbClr val="292E3A"/>
                </a:solidFill>
                <a:latin typeface="Georgia"/>
                <a:cs typeface="Georgia"/>
              </a:rPr>
              <a:t>the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challenges</a:t>
            </a:r>
            <a:r>
              <a:rPr dirty="0" sz="2500" spc="-7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and</a:t>
            </a:r>
            <a:r>
              <a:rPr dirty="0" sz="2500" spc="-7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20">
                <a:solidFill>
                  <a:srgbClr val="292E3A"/>
                </a:solidFill>
                <a:latin typeface="Georgia"/>
                <a:cs typeface="Georgia"/>
              </a:rPr>
              <a:t>best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practices</a:t>
            </a:r>
            <a:r>
              <a:rPr dirty="0" sz="2500" spc="-6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of</a:t>
            </a:r>
            <a:r>
              <a:rPr dirty="0" sz="2500" spc="-5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integrating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IBM</a:t>
            </a:r>
            <a:r>
              <a:rPr dirty="0" sz="2500" spc="-3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Db2</a:t>
            </a:r>
            <a:r>
              <a:rPr dirty="0" sz="2500" spc="-3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for</a:t>
            </a:r>
            <a:r>
              <a:rPr dirty="0" sz="2500" spc="-3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enterprise-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grade</a:t>
            </a:r>
            <a:r>
              <a:rPr dirty="0" sz="2500" spc="-8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database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management,</a:t>
            </a:r>
            <a:r>
              <a:rPr dirty="0" sz="2500" spc="-114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ensuring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data</a:t>
            </a:r>
            <a:r>
              <a:rPr dirty="0" sz="2500" spc="-6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integrity</a:t>
            </a:r>
            <a:r>
              <a:rPr dirty="0" sz="2500" spc="-6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25">
                <a:solidFill>
                  <a:srgbClr val="292E3A"/>
                </a:solidFill>
                <a:latin typeface="Georgia"/>
                <a:cs typeface="Georgia"/>
              </a:rPr>
              <a:t>and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reliability</a:t>
            </a:r>
            <a:r>
              <a:rPr dirty="0" sz="2500" spc="-4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for</a:t>
            </a:r>
            <a:r>
              <a:rPr dirty="0" sz="2500" spc="-4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our</a:t>
            </a:r>
            <a:r>
              <a:rPr dirty="0" sz="2500" spc="-4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patient records.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887522" y="2515914"/>
            <a:ext cx="223520" cy="442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415"/>
              </a:lnSpc>
            </a:pPr>
            <a:r>
              <a:rPr dirty="0" sz="3000" spc="-60" b="1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602792" y="5655038"/>
            <a:ext cx="4124325" cy="3968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Understood</a:t>
            </a:r>
            <a:r>
              <a:rPr dirty="0" sz="2500" spc="-8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the</a:t>
            </a:r>
            <a:r>
              <a:rPr dirty="0" sz="2500" spc="-6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critical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importance</a:t>
            </a:r>
            <a:r>
              <a:rPr dirty="0" sz="2500" spc="-4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of</a:t>
            </a:r>
            <a:r>
              <a:rPr dirty="0" sz="2500" spc="-4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using</a:t>
            </a:r>
            <a:r>
              <a:rPr dirty="0" sz="2500" spc="-4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a</a:t>
            </a:r>
            <a:r>
              <a:rPr dirty="0" sz="2500" spc="-4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secure,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scalable,</a:t>
            </a:r>
            <a:r>
              <a:rPr dirty="0" sz="2500" spc="-6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and</a:t>
            </a:r>
            <a:r>
              <a:rPr dirty="0" sz="2500" spc="-6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dedicated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storage</a:t>
            </a:r>
            <a:r>
              <a:rPr dirty="0" sz="2500" spc="-6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solution</a:t>
            </a:r>
            <a:r>
              <a:rPr dirty="0" sz="2500" spc="-5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like</a:t>
            </a:r>
            <a:r>
              <a:rPr dirty="0" sz="2500" spc="-5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25">
                <a:solidFill>
                  <a:srgbClr val="292E3A"/>
                </a:solidFill>
                <a:latin typeface="Georgia"/>
                <a:cs typeface="Georgia"/>
              </a:rPr>
              <a:t>IBM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Cloud</a:t>
            </a:r>
            <a:r>
              <a:rPr dirty="0" sz="2500" spc="-7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Object</a:t>
            </a:r>
            <a:r>
              <a:rPr dirty="0" sz="2500" spc="-6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Storage</a:t>
            </a:r>
            <a:r>
              <a:rPr dirty="0" sz="2500" spc="-6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25">
                <a:solidFill>
                  <a:srgbClr val="292E3A"/>
                </a:solidFill>
                <a:latin typeface="Georgia"/>
                <a:cs typeface="Georgia"/>
              </a:rPr>
              <a:t>for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handling</a:t>
            </a:r>
            <a:r>
              <a:rPr dirty="0" sz="2500" spc="-6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large</a:t>
            </a:r>
            <a:r>
              <a:rPr dirty="0" sz="2500" spc="-6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and</a:t>
            </a:r>
            <a:r>
              <a:rPr dirty="0" sz="2500" spc="-6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sensitive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medical</a:t>
            </a:r>
            <a:r>
              <a:rPr dirty="0" sz="2500" spc="-8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image</a:t>
            </a:r>
            <a:r>
              <a:rPr dirty="0" sz="2500" spc="-7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20">
                <a:solidFill>
                  <a:srgbClr val="292E3A"/>
                </a:solidFill>
                <a:latin typeface="Georgia"/>
                <a:cs typeface="Georgia"/>
              </a:rPr>
              <a:t>data,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separating</a:t>
            </a:r>
            <a:r>
              <a:rPr dirty="0" sz="2500" spc="-4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it</a:t>
            </a:r>
            <a:r>
              <a:rPr dirty="0" sz="2500" spc="-4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from</a:t>
            </a:r>
            <a:r>
              <a:rPr dirty="0" sz="2500" spc="-4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the</a:t>
            </a:r>
            <a:r>
              <a:rPr dirty="0" sz="2500" spc="-4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20">
                <a:solidFill>
                  <a:srgbClr val="292E3A"/>
                </a:solidFill>
                <a:latin typeface="Georgia"/>
                <a:cs typeface="Georgia"/>
              </a:rPr>
              <a:t>main </a:t>
            </a: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database.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4985466" y="2515914"/>
            <a:ext cx="223520" cy="442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415"/>
              </a:lnSpc>
            </a:pPr>
            <a:r>
              <a:rPr dirty="0" sz="3000" spc="-60" b="1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10983" y="4351516"/>
            <a:ext cx="3492500" cy="439610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 marR="5080">
              <a:lnSpc>
                <a:spcPts val="3900"/>
              </a:lnSpc>
              <a:spcBef>
                <a:spcPts val="280"/>
              </a:spcBef>
            </a:pPr>
            <a:r>
              <a:rPr dirty="0" sz="3300" spc="70" b="1">
                <a:solidFill>
                  <a:srgbClr val="122157"/>
                </a:solidFill>
                <a:latin typeface="Georgia"/>
                <a:cs typeface="Georgia"/>
              </a:rPr>
              <a:t>IBM</a:t>
            </a:r>
            <a:r>
              <a:rPr dirty="0" sz="3300" spc="250" b="1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3300" spc="90" b="1">
                <a:solidFill>
                  <a:srgbClr val="122157"/>
                </a:solidFill>
                <a:latin typeface="Georgia"/>
                <a:cs typeface="Georgia"/>
              </a:rPr>
              <a:t>LinuxONE </a:t>
            </a:r>
            <a:r>
              <a:rPr dirty="0" sz="3300" spc="85" b="1">
                <a:solidFill>
                  <a:srgbClr val="122157"/>
                </a:solidFill>
                <a:latin typeface="Georgia"/>
                <a:cs typeface="Georgia"/>
              </a:rPr>
              <a:t>System</a:t>
            </a:r>
            <a:endParaRPr sz="3300">
              <a:latin typeface="Georgia"/>
              <a:cs typeface="Georgia"/>
            </a:endParaRPr>
          </a:p>
          <a:p>
            <a:pPr marL="217170" marR="76835">
              <a:lnSpc>
                <a:spcPct val="114999"/>
              </a:lnSpc>
              <a:spcBef>
                <a:spcPts val="2285"/>
              </a:spcBef>
            </a:pP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Gained</a:t>
            </a:r>
            <a:r>
              <a:rPr dirty="0" sz="2500" spc="-6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insights</a:t>
            </a:r>
            <a:r>
              <a:rPr dirty="0" sz="2500" spc="-6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20">
                <a:solidFill>
                  <a:srgbClr val="292E3A"/>
                </a:solidFill>
                <a:latin typeface="Georgia"/>
                <a:cs typeface="Georgia"/>
              </a:rPr>
              <a:t>into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the</a:t>
            </a:r>
            <a:r>
              <a:rPr dirty="0" sz="2500" spc="-5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importance</a:t>
            </a:r>
            <a:r>
              <a:rPr dirty="0" sz="2500" spc="-5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of</a:t>
            </a:r>
            <a:r>
              <a:rPr dirty="0" sz="2500" spc="-4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50">
                <a:solidFill>
                  <a:srgbClr val="292E3A"/>
                </a:solidFill>
                <a:latin typeface="Georgia"/>
                <a:cs typeface="Georgia"/>
              </a:rPr>
              <a:t>a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scalable</a:t>
            </a:r>
            <a:r>
              <a:rPr dirty="0" sz="2500" spc="-6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and</a:t>
            </a:r>
            <a:r>
              <a:rPr dirty="0" sz="2500" spc="-6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secure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platform</a:t>
            </a:r>
            <a:r>
              <a:rPr dirty="0" sz="2500" spc="-4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for</a:t>
            </a:r>
            <a:r>
              <a:rPr dirty="0" sz="2500" spc="-3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deploying mission-critical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applications</a:t>
            </a:r>
            <a:r>
              <a:rPr dirty="0" sz="2500" spc="-7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like</a:t>
            </a:r>
            <a:r>
              <a:rPr dirty="0" sz="2500" spc="-6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25">
                <a:solidFill>
                  <a:srgbClr val="292E3A"/>
                </a:solidFill>
                <a:latin typeface="Georgia"/>
                <a:cs typeface="Georgia"/>
              </a:rPr>
              <a:t>our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healthcare</a:t>
            </a:r>
            <a:r>
              <a:rPr dirty="0" sz="2500" spc="-60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>
                <a:solidFill>
                  <a:srgbClr val="292E3A"/>
                </a:solidFill>
                <a:latin typeface="Georgia"/>
                <a:cs typeface="Georgia"/>
              </a:rPr>
              <a:t>AI</a:t>
            </a:r>
            <a:r>
              <a:rPr dirty="0" sz="2500" spc="-55">
                <a:solidFill>
                  <a:srgbClr val="292E3A"/>
                </a:solidFill>
                <a:latin typeface="Georgia"/>
                <a:cs typeface="Georgia"/>
              </a:rPr>
              <a:t> </a:t>
            </a:r>
            <a:r>
              <a:rPr dirty="0" sz="2500" spc="-10">
                <a:solidFill>
                  <a:srgbClr val="292E3A"/>
                </a:solidFill>
                <a:latin typeface="Georgia"/>
                <a:cs typeface="Georgia"/>
              </a:rPr>
              <a:t>solution.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548622" y="4351516"/>
            <a:ext cx="2246630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235" b="1">
                <a:solidFill>
                  <a:srgbClr val="122157"/>
                </a:solidFill>
                <a:latin typeface="Georgia"/>
                <a:cs typeface="Georgia"/>
              </a:rPr>
              <a:t>Watson</a:t>
            </a:r>
            <a:r>
              <a:rPr dirty="0" sz="3300" spc="-545" b="1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3300" spc="-50" b="1">
                <a:solidFill>
                  <a:srgbClr val="122157"/>
                </a:solidFill>
                <a:latin typeface="Georgia"/>
                <a:cs typeface="Georgia"/>
              </a:rPr>
              <a:t>X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677458" y="4355048"/>
            <a:ext cx="223075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02690" algn="l"/>
              </a:tabLst>
            </a:pPr>
            <a:r>
              <a:rPr dirty="0" sz="3300" spc="155" b="1">
                <a:solidFill>
                  <a:srgbClr val="122157"/>
                </a:solidFill>
                <a:latin typeface="Georgia"/>
                <a:cs typeface="Georgia"/>
              </a:rPr>
              <a:t>IBM</a:t>
            </a:r>
            <a:r>
              <a:rPr dirty="0" sz="3300" b="1">
                <a:solidFill>
                  <a:srgbClr val="122157"/>
                </a:solidFill>
                <a:latin typeface="Georgia"/>
                <a:cs typeface="Georgia"/>
              </a:rPr>
              <a:t>	</a:t>
            </a:r>
            <a:r>
              <a:rPr dirty="0" sz="3300" spc="135" b="1">
                <a:solidFill>
                  <a:srgbClr val="122157"/>
                </a:solidFill>
                <a:latin typeface="Georgia"/>
                <a:cs typeface="Georgia"/>
              </a:rPr>
              <a:t>DB</a:t>
            </a:r>
            <a:r>
              <a:rPr dirty="0" sz="3300" spc="-545" b="1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3300" spc="30" b="1">
                <a:solidFill>
                  <a:srgbClr val="122157"/>
                </a:solidFill>
                <a:latin typeface="Georgia"/>
                <a:cs typeface="Georgia"/>
              </a:rPr>
              <a:t>2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3237201" y="4358000"/>
            <a:ext cx="438086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75" b="1">
                <a:solidFill>
                  <a:srgbClr val="122157"/>
                </a:solidFill>
                <a:latin typeface="Georgia"/>
                <a:cs typeface="Georgia"/>
              </a:rPr>
              <a:t>IBM</a:t>
            </a:r>
            <a:r>
              <a:rPr dirty="0" sz="3300" spc="280" b="1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3300" spc="90" b="1">
                <a:solidFill>
                  <a:srgbClr val="122157"/>
                </a:solidFill>
                <a:latin typeface="Georgia"/>
                <a:cs typeface="Georgia"/>
              </a:rPr>
              <a:t>Cloud</a:t>
            </a:r>
            <a:r>
              <a:rPr dirty="0" sz="3300" spc="285" b="1">
                <a:solidFill>
                  <a:srgbClr val="122157"/>
                </a:solidFill>
                <a:latin typeface="Georgia"/>
                <a:cs typeface="Georgia"/>
              </a:rPr>
              <a:t> </a:t>
            </a:r>
            <a:r>
              <a:rPr dirty="0" sz="3300" spc="95" b="1">
                <a:solidFill>
                  <a:srgbClr val="122157"/>
                </a:solidFill>
                <a:latin typeface="Georgia"/>
                <a:cs typeface="Georgia"/>
              </a:rPr>
              <a:t>Storage</a:t>
            </a:r>
            <a:endParaRPr sz="3300">
              <a:latin typeface="Georgia"/>
              <a:cs typeface="Georgi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9522947" y="1750839"/>
            <a:ext cx="2461895" cy="2461895"/>
            <a:chOff x="9522947" y="1750839"/>
            <a:chExt cx="2461895" cy="2461895"/>
          </a:xfrm>
        </p:grpSpPr>
        <p:pic>
          <p:nvPicPr>
            <p:cNvPr id="21" name="object 2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2947" y="1750839"/>
              <a:ext cx="2461539" cy="2461539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9872020" y="2099912"/>
              <a:ext cx="1762125" cy="1762125"/>
            </a:xfrm>
            <a:custGeom>
              <a:avLst/>
              <a:gdLst/>
              <a:ahLst/>
              <a:cxnLst/>
              <a:rect l="l" t="t" r="r" b="b"/>
              <a:pathLst>
                <a:path w="1762125" h="1762125">
                  <a:moveTo>
                    <a:pt x="903478" y="1762029"/>
                  </a:moveTo>
                  <a:lnTo>
                    <a:pt x="858551" y="1762029"/>
                  </a:lnTo>
                  <a:lnTo>
                    <a:pt x="813815" y="1756794"/>
                  </a:lnTo>
                  <a:lnTo>
                    <a:pt x="769840" y="1746229"/>
                  </a:lnTo>
                  <a:lnTo>
                    <a:pt x="727198" y="1730428"/>
                  </a:lnTo>
                  <a:lnTo>
                    <a:pt x="686270" y="1709298"/>
                  </a:lnTo>
                  <a:lnTo>
                    <a:pt x="647625" y="1682932"/>
                  </a:lnTo>
                  <a:lnTo>
                    <a:pt x="611741" y="1651236"/>
                  </a:lnTo>
                  <a:lnTo>
                    <a:pt x="110793" y="1150287"/>
                  </a:lnTo>
                  <a:lnTo>
                    <a:pt x="79097" y="1114403"/>
                  </a:lnTo>
                  <a:lnTo>
                    <a:pt x="52731" y="1075759"/>
                  </a:lnTo>
                  <a:lnTo>
                    <a:pt x="31600" y="1034830"/>
                  </a:lnTo>
                  <a:lnTo>
                    <a:pt x="15800" y="992188"/>
                  </a:lnTo>
                  <a:lnTo>
                    <a:pt x="5235" y="948214"/>
                  </a:lnTo>
                  <a:lnTo>
                    <a:pt x="0" y="903478"/>
                  </a:lnTo>
                  <a:lnTo>
                    <a:pt x="0" y="858551"/>
                  </a:lnTo>
                  <a:lnTo>
                    <a:pt x="5235" y="813815"/>
                  </a:lnTo>
                  <a:lnTo>
                    <a:pt x="15800" y="769840"/>
                  </a:lnTo>
                  <a:lnTo>
                    <a:pt x="31695" y="727199"/>
                  </a:lnTo>
                  <a:lnTo>
                    <a:pt x="52826" y="686270"/>
                  </a:lnTo>
                  <a:lnTo>
                    <a:pt x="79192" y="647625"/>
                  </a:lnTo>
                  <a:lnTo>
                    <a:pt x="110888" y="611741"/>
                  </a:lnTo>
                  <a:lnTo>
                    <a:pt x="611741" y="110888"/>
                  </a:lnTo>
                  <a:lnTo>
                    <a:pt x="647625" y="79192"/>
                  </a:lnTo>
                  <a:lnTo>
                    <a:pt x="686270" y="52826"/>
                  </a:lnTo>
                  <a:lnTo>
                    <a:pt x="727199" y="31695"/>
                  </a:lnTo>
                  <a:lnTo>
                    <a:pt x="769841" y="15895"/>
                  </a:lnTo>
                  <a:lnTo>
                    <a:pt x="813815" y="5235"/>
                  </a:lnTo>
                  <a:lnTo>
                    <a:pt x="858551" y="0"/>
                  </a:lnTo>
                  <a:lnTo>
                    <a:pt x="903478" y="0"/>
                  </a:lnTo>
                  <a:lnTo>
                    <a:pt x="948214" y="5235"/>
                  </a:lnTo>
                  <a:lnTo>
                    <a:pt x="992188" y="15800"/>
                  </a:lnTo>
                  <a:lnTo>
                    <a:pt x="1034830" y="31600"/>
                  </a:lnTo>
                  <a:lnTo>
                    <a:pt x="1075759" y="52731"/>
                  </a:lnTo>
                  <a:lnTo>
                    <a:pt x="1114403" y="79097"/>
                  </a:lnTo>
                  <a:lnTo>
                    <a:pt x="1150287" y="110793"/>
                  </a:lnTo>
                  <a:lnTo>
                    <a:pt x="1651236" y="611741"/>
                  </a:lnTo>
                  <a:lnTo>
                    <a:pt x="1682932" y="647625"/>
                  </a:lnTo>
                  <a:lnTo>
                    <a:pt x="1709298" y="686270"/>
                  </a:lnTo>
                  <a:lnTo>
                    <a:pt x="1730429" y="727199"/>
                  </a:lnTo>
                  <a:lnTo>
                    <a:pt x="1746229" y="769841"/>
                  </a:lnTo>
                  <a:lnTo>
                    <a:pt x="1756794" y="813815"/>
                  </a:lnTo>
                  <a:lnTo>
                    <a:pt x="1762029" y="858551"/>
                  </a:lnTo>
                  <a:lnTo>
                    <a:pt x="1762029" y="903478"/>
                  </a:lnTo>
                  <a:lnTo>
                    <a:pt x="1756794" y="948214"/>
                  </a:lnTo>
                  <a:lnTo>
                    <a:pt x="1746229" y="992188"/>
                  </a:lnTo>
                  <a:lnTo>
                    <a:pt x="1730429" y="1034830"/>
                  </a:lnTo>
                  <a:lnTo>
                    <a:pt x="1709298" y="1075759"/>
                  </a:lnTo>
                  <a:lnTo>
                    <a:pt x="1682932" y="1114403"/>
                  </a:lnTo>
                  <a:lnTo>
                    <a:pt x="1651236" y="1150287"/>
                  </a:lnTo>
                  <a:lnTo>
                    <a:pt x="1150287" y="1651236"/>
                  </a:lnTo>
                  <a:lnTo>
                    <a:pt x="1114403" y="1682932"/>
                  </a:lnTo>
                  <a:lnTo>
                    <a:pt x="1075759" y="1709298"/>
                  </a:lnTo>
                  <a:lnTo>
                    <a:pt x="1034830" y="1730429"/>
                  </a:lnTo>
                  <a:lnTo>
                    <a:pt x="992188" y="1746229"/>
                  </a:lnTo>
                  <a:lnTo>
                    <a:pt x="948214" y="1756794"/>
                  </a:lnTo>
                  <a:lnTo>
                    <a:pt x="903478" y="1762029"/>
                  </a:lnTo>
                  <a:close/>
                </a:path>
              </a:pathLst>
            </a:custGeom>
            <a:solidFill>
              <a:srgbClr val="1537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0624632" y="2721259"/>
            <a:ext cx="24892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3000">
              <a:latin typeface="Trebuchet MS"/>
              <a:cs typeface="Trebuchet MS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4041082" y="1672846"/>
            <a:ext cx="2461895" cy="2461895"/>
            <a:chOff x="14041082" y="1672846"/>
            <a:chExt cx="2461895" cy="2461895"/>
          </a:xfrm>
        </p:grpSpPr>
        <p:pic>
          <p:nvPicPr>
            <p:cNvPr id="25" name="object 2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41082" y="1672846"/>
              <a:ext cx="2461539" cy="2461539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4390154" y="2021919"/>
              <a:ext cx="1762125" cy="1762125"/>
            </a:xfrm>
            <a:custGeom>
              <a:avLst/>
              <a:gdLst/>
              <a:ahLst/>
              <a:cxnLst/>
              <a:rect l="l" t="t" r="r" b="b"/>
              <a:pathLst>
                <a:path w="1762125" h="1762125">
                  <a:moveTo>
                    <a:pt x="903478" y="1762029"/>
                  </a:moveTo>
                  <a:lnTo>
                    <a:pt x="858551" y="1762029"/>
                  </a:lnTo>
                  <a:lnTo>
                    <a:pt x="813815" y="1756794"/>
                  </a:lnTo>
                  <a:lnTo>
                    <a:pt x="769840" y="1746229"/>
                  </a:lnTo>
                  <a:lnTo>
                    <a:pt x="727198" y="1730428"/>
                  </a:lnTo>
                  <a:lnTo>
                    <a:pt x="686270" y="1709298"/>
                  </a:lnTo>
                  <a:lnTo>
                    <a:pt x="647625" y="1682932"/>
                  </a:lnTo>
                  <a:lnTo>
                    <a:pt x="611741" y="1651236"/>
                  </a:lnTo>
                  <a:lnTo>
                    <a:pt x="110793" y="1150287"/>
                  </a:lnTo>
                  <a:lnTo>
                    <a:pt x="79097" y="1114403"/>
                  </a:lnTo>
                  <a:lnTo>
                    <a:pt x="52731" y="1075759"/>
                  </a:lnTo>
                  <a:lnTo>
                    <a:pt x="31600" y="1034830"/>
                  </a:lnTo>
                  <a:lnTo>
                    <a:pt x="15800" y="992188"/>
                  </a:lnTo>
                  <a:lnTo>
                    <a:pt x="5235" y="948214"/>
                  </a:lnTo>
                  <a:lnTo>
                    <a:pt x="0" y="903478"/>
                  </a:lnTo>
                  <a:lnTo>
                    <a:pt x="0" y="858551"/>
                  </a:lnTo>
                  <a:lnTo>
                    <a:pt x="5235" y="813815"/>
                  </a:lnTo>
                  <a:lnTo>
                    <a:pt x="15800" y="769840"/>
                  </a:lnTo>
                  <a:lnTo>
                    <a:pt x="31695" y="727199"/>
                  </a:lnTo>
                  <a:lnTo>
                    <a:pt x="52826" y="686270"/>
                  </a:lnTo>
                  <a:lnTo>
                    <a:pt x="79192" y="647625"/>
                  </a:lnTo>
                  <a:lnTo>
                    <a:pt x="110888" y="611741"/>
                  </a:lnTo>
                  <a:lnTo>
                    <a:pt x="611741" y="110888"/>
                  </a:lnTo>
                  <a:lnTo>
                    <a:pt x="647625" y="79192"/>
                  </a:lnTo>
                  <a:lnTo>
                    <a:pt x="686270" y="52826"/>
                  </a:lnTo>
                  <a:lnTo>
                    <a:pt x="727199" y="31695"/>
                  </a:lnTo>
                  <a:lnTo>
                    <a:pt x="769841" y="15895"/>
                  </a:lnTo>
                  <a:lnTo>
                    <a:pt x="813815" y="5235"/>
                  </a:lnTo>
                  <a:lnTo>
                    <a:pt x="858551" y="0"/>
                  </a:lnTo>
                  <a:lnTo>
                    <a:pt x="903478" y="0"/>
                  </a:lnTo>
                  <a:lnTo>
                    <a:pt x="948214" y="5235"/>
                  </a:lnTo>
                  <a:lnTo>
                    <a:pt x="992188" y="15800"/>
                  </a:lnTo>
                  <a:lnTo>
                    <a:pt x="1034830" y="31600"/>
                  </a:lnTo>
                  <a:lnTo>
                    <a:pt x="1075759" y="52731"/>
                  </a:lnTo>
                  <a:lnTo>
                    <a:pt x="1114403" y="79097"/>
                  </a:lnTo>
                  <a:lnTo>
                    <a:pt x="1150287" y="110793"/>
                  </a:lnTo>
                  <a:lnTo>
                    <a:pt x="1651236" y="611741"/>
                  </a:lnTo>
                  <a:lnTo>
                    <a:pt x="1682932" y="647625"/>
                  </a:lnTo>
                  <a:lnTo>
                    <a:pt x="1709298" y="686270"/>
                  </a:lnTo>
                  <a:lnTo>
                    <a:pt x="1730429" y="727199"/>
                  </a:lnTo>
                  <a:lnTo>
                    <a:pt x="1746229" y="769841"/>
                  </a:lnTo>
                  <a:lnTo>
                    <a:pt x="1756794" y="813815"/>
                  </a:lnTo>
                  <a:lnTo>
                    <a:pt x="1762029" y="858551"/>
                  </a:lnTo>
                  <a:lnTo>
                    <a:pt x="1762029" y="903478"/>
                  </a:lnTo>
                  <a:lnTo>
                    <a:pt x="1756794" y="948214"/>
                  </a:lnTo>
                  <a:lnTo>
                    <a:pt x="1746229" y="992188"/>
                  </a:lnTo>
                  <a:lnTo>
                    <a:pt x="1730429" y="1034830"/>
                  </a:lnTo>
                  <a:lnTo>
                    <a:pt x="1709298" y="1075759"/>
                  </a:lnTo>
                  <a:lnTo>
                    <a:pt x="1682932" y="1114403"/>
                  </a:lnTo>
                  <a:lnTo>
                    <a:pt x="1651236" y="1150287"/>
                  </a:lnTo>
                  <a:lnTo>
                    <a:pt x="1150287" y="1651236"/>
                  </a:lnTo>
                  <a:lnTo>
                    <a:pt x="1114403" y="1682932"/>
                  </a:lnTo>
                  <a:lnTo>
                    <a:pt x="1075759" y="1709298"/>
                  </a:lnTo>
                  <a:lnTo>
                    <a:pt x="1034830" y="1730429"/>
                  </a:lnTo>
                  <a:lnTo>
                    <a:pt x="992188" y="1746229"/>
                  </a:lnTo>
                  <a:lnTo>
                    <a:pt x="948214" y="1756794"/>
                  </a:lnTo>
                  <a:lnTo>
                    <a:pt x="903478" y="1762029"/>
                  </a:lnTo>
                  <a:close/>
                </a:path>
              </a:pathLst>
            </a:custGeom>
            <a:solidFill>
              <a:srgbClr val="1537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5124563" y="2614000"/>
            <a:ext cx="24892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3000">
              <a:latin typeface="Trebuchet MS"/>
              <a:cs typeface="Trebuchet MS"/>
            </a:endParaRPr>
          </a:p>
        </p:txBody>
      </p:sp>
      <p:pic>
        <p:nvPicPr>
          <p:cNvPr id="28" name="object 2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8287999" cy="1291847"/>
          </a:xfrm>
          <a:prstGeom prst="rect">
            <a:avLst/>
          </a:prstGeom>
        </p:spPr>
      </p:pic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00020">
              <a:lnSpc>
                <a:spcPct val="100000"/>
              </a:lnSpc>
              <a:spcBef>
                <a:spcPts val="100"/>
              </a:spcBef>
            </a:pPr>
            <a:r>
              <a:rPr dirty="0" spc="229"/>
              <a:t>Learnings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09028" y="4213466"/>
            <a:ext cx="8270240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200" spc="-509" b="0">
                <a:solidFill>
                  <a:srgbClr val="122157"/>
                </a:solidFill>
                <a:latin typeface="Arial Black"/>
                <a:cs typeface="Arial Black"/>
              </a:rPr>
              <a:t>Product</a:t>
            </a:r>
            <a:r>
              <a:rPr dirty="0" sz="9200" spc="-885" b="0">
                <a:solidFill>
                  <a:srgbClr val="122157"/>
                </a:solidFill>
                <a:latin typeface="Arial Black"/>
                <a:cs typeface="Arial Black"/>
              </a:rPr>
              <a:t> </a:t>
            </a:r>
            <a:r>
              <a:rPr dirty="0" sz="9200" spc="-530" b="0">
                <a:solidFill>
                  <a:srgbClr val="122157"/>
                </a:solidFill>
                <a:latin typeface="Arial Black"/>
                <a:cs typeface="Arial Black"/>
              </a:rPr>
              <a:t>Demo</a:t>
            </a:r>
            <a:endParaRPr sz="9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02093" y="3263700"/>
            <a:ext cx="5302250" cy="1229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900" spc="215">
                <a:solidFill>
                  <a:srgbClr val="292E3A"/>
                </a:solidFill>
              </a:rPr>
              <a:t>Thank</a:t>
            </a:r>
            <a:r>
              <a:rPr dirty="0" sz="7900" spc="620">
                <a:solidFill>
                  <a:srgbClr val="292E3A"/>
                </a:solidFill>
              </a:rPr>
              <a:t> </a:t>
            </a:r>
            <a:r>
              <a:rPr dirty="0" sz="7900" spc="145">
                <a:solidFill>
                  <a:srgbClr val="6F8BAB"/>
                </a:solidFill>
              </a:rPr>
              <a:t>You</a:t>
            </a:r>
            <a:endParaRPr sz="79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8196205" cy="10286998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90"/>
              <a:t>TEAM</a:t>
            </a:r>
            <a:r>
              <a:rPr dirty="0" spc="520"/>
              <a:t> </a:t>
            </a:r>
            <a:r>
              <a:rPr dirty="0"/>
              <a:t>:</a:t>
            </a:r>
            <a:r>
              <a:rPr dirty="0" spc="520"/>
              <a:t> </a:t>
            </a:r>
            <a:r>
              <a:rPr dirty="0" spc="160"/>
              <a:t>BIG</a:t>
            </a:r>
            <a:r>
              <a:rPr dirty="0" spc="525"/>
              <a:t> </a:t>
            </a:r>
            <a:r>
              <a:rPr dirty="0" spc="190"/>
              <a:t>IRON-</a:t>
            </a:r>
            <a:r>
              <a:rPr dirty="0" spc="520"/>
              <a:t> </a:t>
            </a:r>
            <a:r>
              <a:rPr dirty="0" spc="195"/>
              <a:t>SAV106</a:t>
            </a:r>
          </a:p>
          <a:p>
            <a:pPr>
              <a:lnSpc>
                <a:spcPct val="100000"/>
              </a:lnSpc>
              <a:spcBef>
                <a:spcPts val="1710"/>
              </a:spcBef>
            </a:pPr>
          </a:p>
          <a:p>
            <a:pPr marL="170815" marR="5080">
              <a:lnSpc>
                <a:spcPct val="115199"/>
              </a:lnSpc>
            </a:pPr>
            <a:r>
              <a:rPr dirty="0" sz="3200" spc="-100">
                <a:solidFill>
                  <a:srgbClr val="122157"/>
                </a:solidFill>
                <a:latin typeface="Lucida Sans Unicode"/>
                <a:cs typeface="Lucida Sans Unicode"/>
              </a:rPr>
              <a:t>Thank</a:t>
            </a:r>
            <a:r>
              <a:rPr dirty="0" sz="3200" spc="-185">
                <a:solidFill>
                  <a:srgbClr val="122157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122157"/>
                </a:solidFill>
                <a:latin typeface="Lucida Sans Unicode"/>
                <a:cs typeface="Lucida Sans Unicode"/>
              </a:rPr>
              <a:t>you</a:t>
            </a:r>
            <a:r>
              <a:rPr dirty="0" sz="3200" spc="-180">
                <a:solidFill>
                  <a:srgbClr val="122157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122157"/>
                </a:solidFill>
                <a:latin typeface="Lucida Sans Unicode"/>
                <a:cs typeface="Lucida Sans Unicode"/>
              </a:rPr>
              <a:t>for</a:t>
            </a:r>
            <a:r>
              <a:rPr dirty="0" sz="3200" spc="-185">
                <a:solidFill>
                  <a:srgbClr val="122157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122157"/>
                </a:solidFill>
                <a:latin typeface="Lucida Sans Unicode"/>
                <a:cs typeface="Lucida Sans Unicode"/>
              </a:rPr>
              <a:t>your</a:t>
            </a:r>
            <a:r>
              <a:rPr dirty="0" sz="3200" spc="-180">
                <a:solidFill>
                  <a:srgbClr val="122157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122157"/>
                </a:solidFill>
                <a:latin typeface="Lucida Sans Unicode"/>
                <a:cs typeface="Lucida Sans Unicode"/>
              </a:rPr>
              <a:t>time</a:t>
            </a:r>
            <a:r>
              <a:rPr dirty="0" sz="3200" spc="-185">
                <a:solidFill>
                  <a:srgbClr val="122157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122157"/>
                </a:solidFill>
                <a:latin typeface="Lucida Sans Unicode"/>
                <a:cs typeface="Lucida Sans Unicode"/>
              </a:rPr>
              <a:t>and</a:t>
            </a:r>
            <a:r>
              <a:rPr dirty="0" sz="3200" spc="-180">
                <a:solidFill>
                  <a:srgbClr val="122157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122157"/>
                </a:solidFill>
                <a:latin typeface="Lucida Sans Unicode"/>
                <a:cs typeface="Lucida Sans Unicode"/>
              </a:rPr>
              <a:t>attention</a:t>
            </a:r>
            <a:r>
              <a:rPr dirty="0" sz="3200" spc="-185">
                <a:solidFill>
                  <a:srgbClr val="122157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650">
                <a:solidFill>
                  <a:srgbClr val="122157"/>
                </a:solidFill>
                <a:latin typeface="Lucida Sans Unicode"/>
                <a:cs typeface="Lucida Sans Unicode"/>
              </a:rPr>
              <a:t>-</a:t>
            </a:r>
            <a:r>
              <a:rPr dirty="0" sz="3200" spc="-180">
                <a:solidFill>
                  <a:srgbClr val="122157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122157"/>
                </a:solidFill>
                <a:latin typeface="Lucida Sans Unicode"/>
                <a:cs typeface="Lucida Sans Unicode"/>
              </a:rPr>
              <a:t>we</a:t>
            </a:r>
            <a:r>
              <a:rPr dirty="0" sz="3200" spc="-180">
                <a:solidFill>
                  <a:srgbClr val="122157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20">
                <a:solidFill>
                  <a:srgbClr val="122157"/>
                </a:solidFill>
                <a:latin typeface="Lucida Sans Unicode"/>
                <a:cs typeface="Lucida Sans Unicode"/>
              </a:rPr>
              <a:t>look </a:t>
            </a:r>
            <a:r>
              <a:rPr dirty="0" sz="3200">
                <a:solidFill>
                  <a:srgbClr val="122157"/>
                </a:solidFill>
                <a:latin typeface="Lucida Sans Unicode"/>
                <a:cs typeface="Lucida Sans Unicode"/>
              </a:rPr>
              <a:t>forward</a:t>
            </a:r>
            <a:r>
              <a:rPr dirty="0" sz="3200" spc="-165">
                <a:solidFill>
                  <a:srgbClr val="122157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122157"/>
                </a:solidFill>
                <a:latin typeface="Lucida Sans Unicode"/>
                <a:cs typeface="Lucida Sans Unicode"/>
              </a:rPr>
              <a:t>to</a:t>
            </a:r>
            <a:r>
              <a:rPr dirty="0" sz="3200" spc="-160">
                <a:solidFill>
                  <a:srgbClr val="122157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122157"/>
                </a:solidFill>
                <a:latin typeface="Lucida Sans Unicode"/>
                <a:cs typeface="Lucida Sans Unicode"/>
              </a:rPr>
              <a:t>the</a:t>
            </a:r>
            <a:r>
              <a:rPr dirty="0" sz="3200" spc="-160">
                <a:solidFill>
                  <a:srgbClr val="122157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122157"/>
                </a:solidFill>
                <a:latin typeface="Lucida Sans Unicode"/>
                <a:cs typeface="Lucida Sans Unicode"/>
              </a:rPr>
              <a:t>future</a:t>
            </a:r>
            <a:r>
              <a:rPr dirty="0" sz="3200" spc="-160">
                <a:solidFill>
                  <a:srgbClr val="122157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25">
                <a:solidFill>
                  <a:srgbClr val="122157"/>
                </a:solidFill>
                <a:latin typeface="Lucida Sans Unicode"/>
                <a:cs typeface="Lucida Sans Unicode"/>
              </a:rPr>
              <a:t>possibilities</a:t>
            </a:r>
            <a:r>
              <a:rPr dirty="0" sz="3200" spc="-160">
                <a:solidFill>
                  <a:srgbClr val="122157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10">
                <a:solidFill>
                  <a:srgbClr val="122157"/>
                </a:solidFill>
                <a:latin typeface="Lucida Sans Unicode"/>
                <a:cs typeface="Lucida Sans Unicode"/>
              </a:rPr>
              <a:t>this</a:t>
            </a:r>
            <a:r>
              <a:rPr dirty="0" sz="3200" spc="-165">
                <a:solidFill>
                  <a:srgbClr val="122157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122157"/>
                </a:solidFill>
                <a:latin typeface="Lucida Sans Unicode"/>
                <a:cs typeface="Lucida Sans Unicode"/>
              </a:rPr>
              <a:t>project</a:t>
            </a:r>
            <a:r>
              <a:rPr dirty="0" sz="3200" spc="-160">
                <a:solidFill>
                  <a:srgbClr val="122157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10">
                <a:solidFill>
                  <a:srgbClr val="122157"/>
                </a:solidFill>
                <a:latin typeface="Lucida Sans Unicode"/>
                <a:cs typeface="Lucida Sans Unicode"/>
              </a:rPr>
              <a:t>brings!</a:t>
            </a:r>
            <a:endParaRPr sz="3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Shiv Learner</dc:creator>
  <cp:keywords>DAG1Ta2isao,BAGT_Ob5yf4,0</cp:keywords>
  <dc:title>BIGIRON.pptx</dc:title>
  <dcterms:created xsi:type="dcterms:W3CDTF">2026-02-23T08:24:35Z</dcterms:created>
  <dcterms:modified xsi:type="dcterms:W3CDTF">2026-02-23T08:24:35Z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2025-10-11T00:00:00Z</vt:filetime>
  </property>
  <property fmtid="{D5CDD505-2E9C-101B-9397-08002B2CF9AE}" pid="3" name="Creator">
    <vt:lpwstr>Canva</vt:lpwstr>
  </property>
  <property fmtid="{D5CDD505-2E9C-101B-9397-08002B2CF9AE}" pid="4" name="LastSaved">
    <vt:filetime>2026-02-23T00:00:00Z</vt:filetime>
  </property>
  <property fmtid="{D5CDD505-2E9C-101B-9397-08002B2CF9AE}" pid="5" name="Producer">
    <vt:lpwstr>Canva</vt:lpwstr>
  </property>
</Properties>
</file>